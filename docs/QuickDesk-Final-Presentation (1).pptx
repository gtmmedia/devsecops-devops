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3197550-6D2C-435A-BA49-2FEB13B048D0}">
  <a:tblStyle styleId="{B3197550-6D2C-435A-BA49-2FEB13B048D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Hi, I'm [your name]. This is QuickDesk, a small helpdesk where customers file tickets and support agents resolve them. The app is deliberately simple. What I really built is everything around it: the pipeline that tests it, packages it, scans it, provisions the cloud it runs on, deploys it to Kubernetes and watches it. In the next twelve minutes I'll follow one code change all the way through that chain.</a:t>
            </a:r>
            <a:endParaRPr/>
          </a:p>
        </p:txBody>
      </p:sp>
      <p:sp>
        <p:nvSpPr>
          <p:cNvPr id="22" name="Google Shape;2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Customers create a ticket with a title, description and priority. Agents see the queue at the top as a single bar, filter by status, open a ticket, assign it, change its status and reply in a comment thread. I added one business rule worth mentioning: a closed ticket is frozen until someone reopens it, and the API enforces that with a 409 conflict. This screenshot is the running app from docker compose.</a:t>
            </a:r>
            <a:endParaRPr/>
          </a:p>
        </p:txBody>
      </p:sp>
      <p:sp>
        <p:nvSpPr>
          <p:cNvPr id="32" name="Google Shape;3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whole project on one slide. A developer commits and pushes. GitHub Actions runs the tests, builds Docker images, scans them with Trivy and pushes them to the GitHub Container Registry, tagged with the commit SHA. Terraform builds the AWS network and the Kubernetes cluster. Helm deploys the app onto it, and Prometheus and Grafana watch it. Each box is a gate, so a failure stops everything after it. I'll walk through each one.</a:t>
            </a:r>
            <a:endParaRPr/>
          </a:p>
        </p:txBody>
      </p:sp>
      <p:sp>
        <p:nvSpPr>
          <p:cNvPr id="54" name="Google Shape;5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tiers. A React frontend, a FastAPI backend, and PostgreSQL. The database tables are not created by hand: Alembic migrations create them, so every environment gets the same schema. The API has eight ticket and comment endpoints covering GET, POST, PUT and DELETE. There are also three operational endpoints that exist only because of DevOps: health for liveness, ready for readiness, and metrics for Prometheus.</a:t>
            </a:r>
            <a:endParaRPr/>
          </a:p>
        </p:txBody>
      </p:sp>
      <p:sp>
        <p:nvSpPr>
          <p:cNvPr id="108" name="Google Shape;10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first gate is automated tests. There are twenty five of them. They run against an in-memory SQLite database, so they are fast and cannot touch real data. They test behavior, not only the happy path: invalid input returns 422, a missing ticket returns 404, and editing a closed ticket returns 409. In the pipeline, if any test fails, no image is ever built.</a:t>
            </a:r>
            <a:endParaRPr/>
          </a:p>
        </p:txBody>
      </p:sp>
      <p:sp>
        <p:nvSpPr>
          <p:cNvPr id="132" name="Google Shape;13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Both services are containerised. The backend image installs dependencies in a separate layer so rebuilds are fast, and runs as a non-root user. The frontend is a multi-stage build: Node compiles the React app, then only the static files are copied into a small nginx image, so no Node tooling ships to production. Both images run as non-root, which Kubernetes can enforce. And one command, docker compose up with build, starts the whole stack locally.</a:t>
            </a:r>
            <a:endParaRPr/>
          </a:p>
        </p:txBody>
      </p:sp>
      <p:sp>
        <p:nvSpPr>
          <p:cNvPr id="149" name="Google Shape;14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pipeline is one workflow that runs on every push to main. Jobs one and two run the tests and build the frontend. Only if both pass does the docker job run, once for the backend and once for the frontend: it builds the image, scans it, and only then pushes it to GitHub Container Registry. The tag is the full commit SHA, never latest, so every running pod maps to exactly one commit and rollback is unambiguous. The deploy job is optional and runs helm upgrade on the cluster.</a:t>
            </a:r>
            <a:endParaRPr/>
          </a:p>
        </p:txBody>
      </p:sp>
      <p:sp>
        <p:nvSpPr>
          <p:cNvPr id="169" name="Google Shape;16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Security is a gate, not an afterthought. Trivy scans the operating system packages and the Python and Node libraries inside each image against known vulnerabilities. The pipeline fails on high or critical issues that already have a fix, and the scan happens before the push. While researching I found that the Trivy GitHub Action itself had its version tags hijacked in March 2026, so I pinned it to a commit SHA that cannot be moved. Tools you use to check security are part of your attack surface too. [Explain what your own scan result showed.]</a:t>
            </a:r>
            <a:endParaRPr/>
          </a:p>
        </p:txBody>
      </p:sp>
      <p:sp>
        <p:nvSpPr>
          <p:cNvPr id="200" name="Google Shape;20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infrastructure is code, not console clicks. Terraform creates a VPC with two public subnets in two availability zones, and an EKS cluster with a managed group of three worker nodes. Two EKS add-ons matter for this app: the EBS CSI driver so PostgreSQL can get a disk, and metrics-server so autoscaling can read CPU usage. I used public subnets without a NAT gateway to keep the demo cost down, which is a trade-off I'd change in production. [Show your terraform plan and AWS console screenshots here.] And I always tear it down afterwards.</a:t>
            </a:r>
            <a:endParaRPr/>
          </a:p>
        </p:txBody>
      </p:sp>
      <p:sp>
        <p:nvSpPr>
          <p:cNvPr id="217" name="Google Shape;21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Helm packages all the Kubernetes objects into one chart. Traffic comes in through a load balancer to the Ingress, which routes slash-api to the backend service and everything else to the frontend. The database is a StatefulSet with a persistent disk. Two details I'm proud of: migrations run in an init container so replicas never race each other, and the backend has separate liveness and readiness probes, so a database outage stops traffic without restarting pods pointlessly. Deploying a new version is just helm upgrade with the new commit SHA. [Show kubectl get pods, helm list and the browser via the load balancer.]</a:t>
            </a:r>
            <a:endParaRPr/>
          </a:p>
        </p:txBody>
      </p:sp>
      <p:sp>
        <p:nvSpPr>
          <p:cNvPr id="238" name="Google Shape;23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Horizontal Pod Autoscaler adds pods when CPU use is high. The formula is desired pods equals current pods times current utilization divided by target utilization, rounded up. For example, two pods at 150 percent of their request with a 60 percent target gives five pods. That also shows why the pods must declare a CPU request: the percentage is a percentage of the request, so with no request HPA shows unknown. I run a load test script that calls a CPU-heavy debug endpoint and we watch the replicas climb from two toward six. [Show kubectl get hpa -w during the load test.]</a:t>
            </a:r>
            <a:endParaRPr/>
          </a:p>
        </p:txBody>
      </p:sp>
      <p:sp>
        <p:nvSpPr>
          <p:cNvPr id="264" name="Google Shape;26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backend exposes a metrics endpoint. A ServiceMonitor in the Helm chart tells Prometheus to scrape it every fifteen seconds, and Grafana loads a dashboard I provisioned as code. It shows request rate and latency per endpoint, a business metric, tickets by status counted from the database, and the pod count against CPU so you can see autoscaling happen. [Show the Prometheus targets page with the backend UP, then the dashboard.]</a:t>
            </a:r>
            <a:endParaRPr/>
          </a:p>
        </p:txBody>
      </p:sp>
      <p:sp>
        <p:nvSpPr>
          <p:cNvPr id="279" name="Google Shape;27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the part I practised the most: breaking things on purpose. I have scripts and eight broken manifests for this. Three examples. A wrong image tag gives ImagePullBackOff, and describe pod shows the exact reason in Events. A failing readiness probe leaves the pod running but not ready, so it never receives traffic. A wrong database password makes the migration init container fail, which I see with logs for that container. The method is always the same: get, describe, logs, then fix and verify. [Do a live break and fix with scripts/break.sh here.]</a:t>
            </a:r>
            <a:endParaRPr/>
          </a:p>
        </p:txBody>
      </p:sp>
      <p:sp>
        <p:nvSpPr>
          <p:cNvPr id="301" name="Google Shape;30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things I learned. First, gates work: every problem I hit, a bad test, a scan, a probe, was caught at the earliest stage that could catch it. Second, you can't run what you can't see, so observability made autoscaling and failures visible. Third, small details bite: my database migrations once had two starting points, which stopped the backend from starting until I fixed the revision chain. [Replace with your own lessons.] Thank you, I'm happy to take questions.</a:t>
            </a:r>
            <a:endParaRPr/>
          </a:p>
        </p:txBody>
      </p:sp>
      <p:sp>
        <p:nvSpPr>
          <p:cNvPr id="330" name="Google Shape;33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bg>
      <p:bgPr>
        <a:solidFill>
          <a:schemeClr val="dk1"/>
        </a:solidFill>
      </p:bgPr>
    </p:bg>
    <p:spTree>
      <p:nvGrpSpPr>
        <p:cNvPr id="11" name="Shape 11"/>
        <p:cNvGrpSpPr/>
        <p:nvPr/>
      </p:nvGrpSpPr>
      <p:grpSpPr>
        <a:xfrm>
          <a:off x="0" y="0"/>
          <a:ext cx="0" cy="0"/>
          <a:chOff x="0" y="0"/>
          <a:chExt cx="0" cy="0"/>
        </a:xfrm>
      </p:grpSpPr>
      <p:sp>
        <p:nvSpPr>
          <p:cNvPr id="12" name="Google Shape;12;p2"/>
          <p:cNvSpPr txBox="1"/>
          <p:nvPr>
            <p:ph type="title"/>
          </p:nvPr>
        </p:nvSpPr>
        <p:spPr>
          <a:xfrm>
            <a:off x="731520" y="2103120"/>
            <a:ext cx="6766560" cy="13716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5600"/>
              <a:buFont typeface="Cambria"/>
              <a:buNone/>
              <a:defRPr b="1" i="0" sz="5600" u="none" cap="none" strike="noStrike">
                <a:solidFill>
                  <a:schemeClr val="lt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2"/>
          <p:cNvSpPr txBox="1"/>
          <p:nvPr>
            <p:ph idx="1" type="body"/>
          </p:nvPr>
        </p:nvSpPr>
        <p:spPr>
          <a:xfrm>
            <a:off x="731520" y="3611880"/>
            <a:ext cx="6400800" cy="109728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440"/>
              </a:spcBef>
              <a:spcAft>
                <a:spcPts val="0"/>
              </a:spcAft>
              <a:buClr>
                <a:schemeClr val="lt2"/>
              </a:buClr>
              <a:buSzPts val="2200"/>
              <a:buFont typeface="Arial"/>
              <a:buNone/>
              <a:defRPr b="0" i="0" sz="2200" u="none" cap="none" strike="noStrike">
                <a:solidFill>
                  <a:schemeClr val="lt2"/>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chemeClr val="lt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548640" y="365760"/>
            <a:ext cx="11064240" cy="8229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3600"/>
              <a:buFont typeface="Cambria"/>
              <a:buNone/>
              <a:defRPr b="1" i="0" sz="3600" u="none" cap="none" strike="noStrike">
                <a:solidFill>
                  <a:schemeClr val="dk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 name="Google Shape;16;p3"/>
          <p:cNvSpPr/>
          <p:nvPr/>
        </p:nvSpPr>
        <p:spPr>
          <a:xfrm>
            <a:off x="548640" y="640080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100"/>
              <a:buFont typeface="Calibri"/>
              <a:buNone/>
            </a:pPr>
            <a:r>
              <a:rPr b="0" i="0" lang="en-US" sz="1100" u="none" cap="none" strike="noStrike">
                <a:solidFill>
                  <a:schemeClr val="accent6"/>
                </a:solidFill>
                <a:latin typeface="Calibri"/>
                <a:ea typeface="Calibri"/>
                <a:cs typeface="Calibri"/>
                <a:sym typeface="Calibri"/>
              </a:rPr>
              <a:t>QuickDesk | DevOps capstone</a:t>
            </a:r>
            <a:endParaRPr b="0" i="0" sz="1100" u="none" cap="none" strike="noStrike">
              <a:solidFill>
                <a:schemeClr val="dk1"/>
              </a:solidFill>
              <a:latin typeface="Calibri"/>
              <a:ea typeface="Calibri"/>
              <a:cs typeface="Calibri"/>
              <a:sym typeface="Calibri"/>
            </a:endParaRPr>
          </a:p>
        </p:txBody>
      </p:sp>
      <p:sp>
        <p:nvSpPr>
          <p:cNvPr id="17" name="Google Shape;17;p3"/>
          <p:cNvSpPr txBox="1"/>
          <p:nvPr>
            <p:ph idx="12" type="sldNum"/>
          </p:nvPr>
        </p:nvSpPr>
        <p:spPr>
          <a:xfrm>
            <a:off x="11155680" y="6400800"/>
            <a:ext cx="548640" cy="27432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1100" u="none" cap="none" strike="noStrike">
                <a:solidFill>
                  <a:schemeClr val="accent6"/>
                </a:solidFill>
                <a:latin typeface="Calibri"/>
                <a:ea typeface="Calibri"/>
                <a:cs typeface="Calibri"/>
                <a:sym typeface="Calibri"/>
              </a:defRPr>
            </a:lvl1pPr>
            <a:lvl2pPr indent="0" lvl="1" marL="0" marR="0" algn="r">
              <a:spcBef>
                <a:spcPts val="0"/>
              </a:spcBef>
              <a:buNone/>
              <a:defRPr b="0" i="0" sz="1100" u="none" cap="none" strike="noStrike">
                <a:solidFill>
                  <a:schemeClr val="accent6"/>
                </a:solidFill>
                <a:latin typeface="Calibri"/>
                <a:ea typeface="Calibri"/>
                <a:cs typeface="Calibri"/>
                <a:sym typeface="Calibri"/>
              </a:defRPr>
            </a:lvl2pPr>
            <a:lvl3pPr indent="0" lvl="2" marL="0" marR="0" algn="r">
              <a:spcBef>
                <a:spcPts val="0"/>
              </a:spcBef>
              <a:buNone/>
              <a:defRPr b="0" i="0" sz="1100" u="none" cap="none" strike="noStrike">
                <a:solidFill>
                  <a:schemeClr val="accent6"/>
                </a:solidFill>
                <a:latin typeface="Calibri"/>
                <a:ea typeface="Calibri"/>
                <a:cs typeface="Calibri"/>
                <a:sym typeface="Calibri"/>
              </a:defRPr>
            </a:lvl3pPr>
            <a:lvl4pPr indent="0" lvl="3" marL="0" marR="0" algn="r">
              <a:spcBef>
                <a:spcPts val="0"/>
              </a:spcBef>
              <a:buNone/>
              <a:defRPr b="0" i="0" sz="1100" u="none" cap="none" strike="noStrike">
                <a:solidFill>
                  <a:schemeClr val="accent6"/>
                </a:solidFill>
                <a:latin typeface="Calibri"/>
                <a:ea typeface="Calibri"/>
                <a:cs typeface="Calibri"/>
                <a:sym typeface="Calibri"/>
              </a:defRPr>
            </a:lvl4pPr>
            <a:lvl5pPr indent="0" lvl="4" marL="0" marR="0" algn="r">
              <a:spcBef>
                <a:spcPts val="0"/>
              </a:spcBef>
              <a:buNone/>
              <a:defRPr b="0" i="0" sz="1100" u="none" cap="none" strike="noStrike">
                <a:solidFill>
                  <a:schemeClr val="accent6"/>
                </a:solidFill>
                <a:latin typeface="Calibri"/>
                <a:ea typeface="Calibri"/>
                <a:cs typeface="Calibri"/>
                <a:sym typeface="Calibri"/>
              </a:defRPr>
            </a:lvl5pPr>
            <a:lvl6pPr indent="0" lvl="5" marL="0" marR="0" algn="r">
              <a:spcBef>
                <a:spcPts val="0"/>
              </a:spcBef>
              <a:buNone/>
              <a:defRPr b="0" i="0" sz="1100" u="none" cap="none" strike="noStrike">
                <a:solidFill>
                  <a:schemeClr val="accent6"/>
                </a:solidFill>
                <a:latin typeface="Calibri"/>
                <a:ea typeface="Calibri"/>
                <a:cs typeface="Calibri"/>
                <a:sym typeface="Calibri"/>
              </a:defRPr>
            </a:lvl6pPr>
            <a:lvl7pPr indent="0" lvl="6" marL="0" marR="0" algn="r">
              <a:spcBef>
                <a:spcPts val="0"/>
              </a:spcBef>
              <a:buNone/>
              <a:defRPr b="0" i="0" sz="1100" u="none" cap="none" strike="noStrike">
                <a:solidFill>
                  <a:schemeClr val="accent6"/>
                </a:solidFill>
                <a:latin typeface="Calibri"/>
                <a:ea typeface="Calibri"/>
                <a:cs typeface="Calibri"/>
                <a:sym typeface="Calibri"/>
              </a:defRPr>
            </a:lvl7pPr>
            <a:lvl8pPr indent="0" lvl="7" marL="0" marR="0" algn="r">
              <a:spcBef>
                <a:spcPts val="0"/>
              </a:spcBef>
              <a:buNone/>
              <a:defRPr b="0" i="0" sz="1100" u="none" cap="none" strike="noStrike">
                <a:solidFill>
                  <a:schemeClr val="accent6"/>
                </a:solidFill>
                <a:latin typeface="Calibri"/>
                <a:ea typeface="Calibri"/>
                <a:cs typeface="Calibri"/>
                <a:sym typeface="Calibri"/>
              </a:defRPr>
            </a:lvl8pPr>
            <a:lvl9pPr indent="0" lvl="8" marL="0" marR="0" algn="r">
              <a:spcBef>
                <a:spcPts val="0"/>
              </a:spcBef>
              <a:buNone/>
              <a:defRPr b="0" i="0" sz="1100" u="none" cap="none" strike="noStrike">
                <a:solidFill>
                  <a:schemeClr val="accent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8" name="Shape 1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11155680" y="6400800"/>
            <a:ext cx="548640" cy="27432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100" u="none" cap="none" strike="noStrike">
                <a:solidFill>
                  <a:schemeClr val="accent6"/>
                </a:solidFill>
                <a:latin typeface="Calibri"/>
                <a:ea typeface="Calibri"/>
                <a:cs typeface="Calibri"/>
                <a:sym typeface="Calibri"/>
              </a:defRPr>
            </a:lvl1pPr>
            <a:lvl2pPr indent="0" lvl="1" marL="0" marR="0" rtl="0" algn="r">
              <a:spcBef>
                <a:spcPts val="0"/>
              </a:spcBef>
              <a:buNone/>
              <a:defRPr b="0" i="0" sz="1100" u="none" cap="none" strike="noStrike">
                <a:solidFill>
                  <a:schemeClr val="accent6"/>
                </a:solidFill>
                <a:latin typeface="Calibri"/>
                <a:ea typeface="Calibri"/>
                <a:cs typeface="Calibri"/>
                <a:sym typeface="Calibri"/>
              </a:defRPr>
            </a:lvl2pPr>
            <a:lvl3pPr indent="0" lvl="2" marL="0" marR="0" rtl="0" algn="r">
              <a:spcBef>
                <a:spcPts val="0"/>
              </a:spcBef>
              <a:buNone/>
              <a:defRPr b="0" i="0" sz="1100" u="none" cap="none" strike="noStrike">
                <a:solidFill>
                  <a:schemeClr val="accent6"/>
                </a:solidFill>
                <a:latin typeface="Calibri"/>
                <a:ea typeface="Calibri"/>
                <a:cs typeface="Calibri"/>
                <a:sym typeface="Calibri"/>
              </a:defRPr>
            </a:lvl3pPr>
            <a:lvl4pPr indent="0" lvl="3" marL="0" marR="0" rtl="0" algn="r">
              <a:spcBef>
                <a:spcPts val="0"/>
              </a:spcBef>
              <a:buNone/>
              <a:defRPr b="0" i="0" sz="1100" u="none" cap="none" strike="noStrike">
                <a:solidFill>
                  <a:schemeClr val="accent6"/>
                </a:solidFill>
                <a:latin typeface="Calibri"/>
                <a:ea typeface="Calibri"/>
                <a:cs typeface="Calibri"/>
                <a:sym typeface="Calibri"/>
              </a:defRPr>
            </a:lvl4pPr>
            <a:lvl5pPr indent="0" lvl="4" marL="0" marR="0" rtl="0" algn="r">
              <a:spcBef>
                <a:spcPts val="0"/>
              </a:spcBef>
              <a:buNone/>
              <a:defRPr b="0" i="0" sz="1100" u="none" cap="none" strike="noStrike">
                <a:solidFill>
                  <a:schemeClr val="accent6"/>
                </a:solidFill>
                <a:latin typeface="Calibri"/>
                <a:ea typeface="Calibri"/>
                <a:cs typeface="Calibri"/>
                <a:sym typeface="Calibri"/>
              </a:defRPr>
            </a:lvl5pPr>
            <a:lvl6pPr indent="0" lvl="5" marL="0" marR="0" rtl="0" algn="r">
              <a:spcBef>
                <a:spcPts val="0"/>
              </a:spcBef>
              <a:buNone/>
              <a:defRPr b="0" i="0" sz="1100" u="none" cap="none" strike="noStrike">
                <a:solidFill>
                  <a:schemeClr val="accent6"/>
                </a:solidFill>
                <a:latin typeface="Calibri"/>
                <a:ea typeface="Calibri"/>
                <a:cs typeface="Calibri"/>
                <a:sym typeface="Calibri"/>
              </a:defRPr>
            </a:lvl6pPr>
            <a:lvl7pPr indent="0" lvl="6" marL="0" marR="0" rtl="0" algn="r">
              <a:spcBef>
                <a:spcPts val="0"/>
              </a:spcBef>
              <a:buNone/>
              <a:defRPr b="0" i="0" sz="1100" u="none" cap="none" strike="noStrike">
                <a:solidFill>
                  <a:schemeClr val="accent6"/>
                </a:solidFill>
                <a:latin typeface="Calibri"/>
                <a:ea typeface="Calibri"/>
                <a:cs typeface="Calibri"/>
                <a:sym typeface="Calibri"/>
              </a:defRPr>
            </a:lvl7pPr>
            <a:lvl8pPr indent="0" lvl="7" marL="0" marR="0" rtl="0" algn="r">
              <a:spcBef>
                <a:spcPts val="0"/>
              </a:spcBef>
              <a:buNone/>
              <a:defRPr b="0" i="0" sz="1100" u="none" cap="none" strike="noStrike">
                <a:solidFill>
                  <a:schemeClr val="accent6"/>
                </a:solidFill>
                <a:latin typeface="Calibri"/>
                <a:ea typeface="Calibri"/>
                <a:cs typeface="Calibri"/>
                <a:sym typeface="Calibri"/>
              </a:defRPr>
            </a:lvl8pPr>
            <a:lvl9pPr indent="0" lvl="8" marL="0" marR="0" rtl="0" algn="r">
              <a:spcBef>
                <a:spcPts val="0"/>
              </a:spcBef>
              <a:buNone/>
              <a:defRPr b="0" i="0" sz="1100" u="none" cap="none" strike="noStrike">
                <a:solidFill>
                  <a:schemeClr val="accent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6.png"/><Relationship Id="rId4" Type="http://schemas.openxmlformats.org/officeDocument/2006/relationships/image" Target="../media/image13.png"/><Relationship Id="rId10" Type="http://schemas.openxmlformats.org/officeDocument/2006/relationships/image" Target="../media/image1.png"/><Relationship Id="rId9" Type="http://schemas.openxmlformats.org/officeDocument/2006/relationships/image" Target="../media/image4.png"/><Relationship Id="rId5" Type="http://schemas.openxmlformats.org/officeDocument/2006/relationships/image" Target="../media/image21.png"/><Relationship Id="rId6" Type="http://schemas.openxmlformats.org/officeDocument/2006/relationships/image" Target="../media/image7.png"/><Relationship Id="rId7" Type="http://schemas.openxmlformats.org/officeDocument/2006/relationships/image" Target="../media/image10.png"/><Relationship Id="rId8"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8.png"/><Relationship Id="rId5"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 name="Shape 23"/>
        <p:cNvGrpSpPr/>
        <p:nvPr/>
      </p:nvGrpSpPr>
      <p:grpSpPr>
        <a:xfrm>
          <a:off x="0" y="0"/>
          <a:ext cx="0" cy="0"/>
          <a:chOff x="0" y="0"/>
          <a:chExt cx="0" cy="0"/>
        </a:xfrm>
      </p:grpSpPr>
      <p:sp>
        <p:nvSpPr>
          <p:cNvPr id="24" name="Google Shape;24;p5"/>
          <p:cNvSpPr txBox="1"/>
          <p:nvPr>
            <p:ph type="title"/>
          </p:nvPr>
        </p:nvSpPr>
        <p:spPr>
          <a:xfrm>
            <a:off x="731520" y="2103120"/>
            <a:ext cx="6766560" cy="13716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lt1"/>
              </a:buClr>
              <a:buSzPts val="5600"/>
              <a:buFont typeface="Cambria"/>
              <a:buNone/>
            </a:pPr>
            <a:r>
              <a:rPr b="1" lang="en-US" sz="5600">
                <a:solidFill>
                  <a:schemeClr val="lt1"/>
                </a:solidFill>
              </a:rPr>
              <a:t>QuickDesk</a:t>
            </a:r>
            <a:endParaRPr sz="5600"/>
          </a:p>
        </p:txBody>
      </p:sp>
      <p:sp>
        <p:nvSpPr>
          <p:cNvPr id="25" name="Google Shape;25;p5"/>
          <p:cNvSpPr txBox="1"/>
          <p:nvPr>
            <p:ph idx="1" type="body"/>
          </p:nvPr>
        </p:nvSpPr>
        <p:spPr>
          <a:xfrm>
            <a:off x="731520" y="3611880"/>
            <a:ext cx="6400800" cy="10972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2"/>
              </a:buClr>
              <a:buSzPts val="2200"/>
              <a:buNone/>
            </a:pPr>
            <a:r>
              <a:rPr lang="en-US" sz="2200">
                <a:solidFill>
                  <a:schemeClr val="lt2"/>
                </a:solidFill>
              </a:rPr>
              <a:t>A helpdesk, delivered from git push to a monitored Kubernetes cluster</a:t>
            </a:r>
            <a:endParaRPr sz="2200"/>
          </a:p>
        </p:txBody>
      </p:sp>
      <p:sp>
        <p:nvSpPr>
          <p:cNvPr id="26" name="Google Shape;26;p5"/>
          <p:cNvSpPr txBox="1"/>
          <p:nvPr/>
        </p:nvSpPr>
        <p:spPr>
          <a:xfrm>
            <a:off x="731520" y="5120640"/>
            <a:ext cx="64008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600"/>
              <a:buFont typeface="Calibri"/>
              <a:buNone/>
            </a:pPr>
            <a:r>
              <a:rPr b="0" i="0" lang="en-US" sz="1600" u="none" cap="none" strike="noStrike">
                <a:solidFill>
                  <a:schemeClr val="accent6"/>
                </a:solidFill>
                <a:latin typeface="Calibri"/>
                <a:ea typeface="Calibri"/>
                <a:cs typeface="Calibri"/>
                <a:sym typeface="Calibri"/>
              </a:rPr>
              <a:t>Final DevOps Capstone  |  </a:t>
            </a:r>
            <a:r>
              <a:rPr lang="en-US" sz="1600">
                <a:solidFill>
                  <a:schemeClr val="accent6"/>
                </a:solidFill>
                <a:latin typeface="Calibri"/>
                <a:ea typeface="Calibri"/>
                <a:cs typeface="Calibri"/>
                <a:sym typeface="Calibri"/>
              </a:rPr>
              <a:t>Gautam Mohta</a:t>
            </a:r>
            <a:r>
              <a:rPr b="0" i="0" lang="en-US" sz="1600" u="none" cap="none" strike="noStrike">
                <a:solidFill>
                  <a:schemeClr val="accent6"/>
                </a:solidFill>
                <a:latin typeface="Calibri"/>
                <a:ea typeface="Calibri"/>
                <a:cs typeface="Calibri"/>
                <a:sym typeface="Calibri"/>
              </a:rPr>
              <a:t> |  </a:t>
            </a:r>
            <a:r>
              <a:rPr lang="en-US" sz="1600">
                <a:solidFill>
                  <a:schemeClr val="accent6"/>
                </a:solidFill>
                <a:latin typeface="Calibri"/>
                <a:ea typeface="Calibri"/>
                <a:cs typeface="Calibri"/>
                <a:sym typeface="Calibri"/>
              </a:rPr>
              <a:t>15th October 2026</a:t>
            </a:r>
            <a:endParaRPr sz="1600">
              <a:solidFill>
                <a:schemeClr val="accent6"/>
              </a:solidFill>
              <a:latin typeface="Calibri"/>
              <a:ea typeface="Calibri"/>
              <a:cs typeface="Calibri"/>
              <a:sym typeface="Calibri"/>
            </a:endParaRPr>
          </a:p>
          <a:p>
            <a:pPr indent="0" lvl="0" marL="0" marR="0" rtl="0" algn="l">
              <a:spcBef>
                <a:spcPts val="0"/>
              </a:spcBef>
              <a:spcAft>
                <a:spcPts val="0"/>
              </a:spcAft>
              <a:buClr>
                <a:schemeClr val="accent6"/>
              </a:buClr>
              <a:buSzPts val="1600"/>
              <a:buFont typeface="Calibri"/>
              <a:buNone/>
            </a:pPr>
            <a:r>
              <a:t/>
            </a:r>
            <a:endParaRPr sz="1600">
              <a:solidFill>
                <a:schemeClr val="accent6"/>
              </a:solidFill>
              <a:latin typeface="Calibri"/>
              <a:ea typeface="Calibri"/>
              <a:cs typeface="Calibri"/>
              <a:sym typeface="Calibri"/>
            </a:endParaRPr>
          </a:p>
        </p:txBody>
      </p:sp>
      <p:sp>
        <p:nvSpPr>
          <p:cNvPr id="27" name="Google Shape;27;p5"/>
          <p:cNvSpPr/>
          <p:nvPr/>
        </p:nvSpPr>
        <p:spPr>
          <a:xfrm>
            <a:off x="8138160" y="1554480"/>
            <a:ext cx="3383280" cy="338328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 name="Google Shape;28;p5"/>
          <p:cNvPicPr preferRelativeResize="0"/>
          <p:nvPr/>
        </p:nvPicPr>
        <p:blipFill rotWithShape="1">
          <a:blip r:embed="rId3">
            <a:alphaModFix/>
          </a:blip>
          <a:srcRect b="0" l="0" r="0" t="0"/>
          <a:stretch/>
        </p:blipFill>
        <p:spPr>
          <a:xfrm>
            <a:off x="9098280" y="2514600"/>
            <a:ext cx="1463040" cy="146304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 name="Shape 33"/>
        <p:cNvGrpSpPr/>
        <p:nvPr/>
      </p:nvGrpSpPr>
      <p:grpSpPr>
        <a:xfrm>
          <a:off x="0" y="0"/>
          <a:ext cx="0" cy="0"/>
          <a:chOff x="0" y="0"/>
          <a:chExt cx="0" cy="0"/>
        </a:xfrm>
      </p:grpSpPr>
      <p:sp>
        <p:nvSpPr>
          <p:cNvPr id="34" name="Google Shape;34;p6"/>
          <p:cNvSpPr txBox="1"/>
          <p:nvPr>
            <p:ph type="title"/>
          </p:nvPr>
        </p:nvSpPr>
        <p:spPr>
          <a:xfrm>
            <a:off x="548640" y="36576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600"/>
              <a:buFont typeface="Cambria"/>
              <a:buNone/>
            </a:pPr>
            <a:r>
              <a:rPr b="1" lang="en-US" sz="3600">
                <a:solidFill>
                  <a:schemeClr val="dk1"/>
                </a:solidFill>
              </a:rPr>
              <a:t>What QuickDesk does</a:t>
            </a:r>
            <a:endParaRPr sz="3600"/>
          </a:p>
        </p:txBody>
      </p:sp>
      <p:sp>
        <p:nvSpPr>
          <p:cNvPr id="35" name="Google Shape;35;p6"/>
          <p:cNvSpPr/>
          <p:nvPr/>
        </p:nvSpPr>
        <p:spPr>
          <a:xfrm>
            <a:off x="548640" y="1554480"/>
            <a:ext cx="822960" cy="822960"/>
          </a:xfrm>
          <a:prstGeom prst="ellipse">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6" name="Google Shape;36;p6"/>
          <p:cNvPicPr preferRelativeResize="0"/>
          <p:nvPr/>
        </p:nvPicPr>
        <p:blipFill rotWithShape="1">
          <a:blip r:embed="rId3">
            <a:alphaModFix/>
          </a:blip>
          <a:srcRect b="0" l="0" r="0" t="0"/>
          <a:stretch/>
        </p:blipFill>
        <p:spPr>
          <a:xfrm>
            <a:off x="754380" y="1760220"/>
            <a:ext cx="411480" cy="411480"/>
          </a:xfrm>
          <a:prstGeom prst="rect">
            <a:avLst/>
          </a:prstGeom>
          <a:noFill/>
          <a:ln>
            <a:noFill/>
          </a:ln>
        </p:spPr>
      </p:pic>
      <p:sp>
        <p:nvSpPr>
          <p:cNvPr id="37" name="Google Shape;37;p6"/>
          <p:cNvSpPr txBox="1"/>
          <p:nvPr/>
        </p:nvSpPr>
        <p:spPr>
          <a:xfrm>
            <a:off x="1600200" y="1572768"/>
            <a:ext cx="40233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200"/>
              <a:buFont typeface="Calibri"/>
              <a:buNone/>
            </a:pPr>
            <a:r>
              <a:rPr b="1" i="0" lang="en-US" sz="2200" u="none" cap="none" strike="noStrike">
                <a:solidFill>
                  <a:schemeClr val="dk1"/>
                </a:solidFill>
                <a:latin typeface="Calibri"/>
                <a:ea typeface="Calibri"/>
                <a:cs typeface="Calibri"/>
                <a:sym typeface="Calibri"/>
              </a:rPr>
              <a:t>Customers file tickets</a:t>
            </a:r>
            <a:endParaRPr b="0" i="0" sz="2200" u="none" cap="none" strike="noStrike">
              <a:solidFill>
                <a:schemeClr val="dk1"/>
              </a:solidFill>
              <a:latin typeface="Calibri"/>
              <a:ea typeface="Calibri"/>
              <a:cs typeface="Calibri"/>
              <a:sym typeface="Calibri"/>
            </a:endParaRPr>
          </a:p>
        </p:txBody>
      </p:sp>
      <p:sp>
        <p:nvSpPr>
          <p:cNvPr id="38" name="Google Shape;38;p6"/>
          <p:cNvSpPr txBox="1"/>
          <p:nvPr/>
        </p:nvSpPr>
        <p:spPr>
          <a:xfrm>
            <a:off x="1600200" y="2011680"/>
            <a:ext cx="402336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0" i="0" lang="en-US" sz="1600" u="none" cap="none" strike="noStrike">
                <a:solidFill>
                  <a:schemeClr val="dk2"/>
                </a:solidFill>
                <a:latin typeface="Calibri"/>
                <a:ea typeface="Calibri"/>
                <a:cs typeface="Calibri"/>
                <a:sym typeface="Calibri"/>
              </a:rPr>
              <a:t>Title, details, priority, contact email</a:t>
            </a:r>
            <a:endParaRPr b="0" i="0" sz="1600" u="none" cap="none" strike="noStrike">
              <a:solidFill>
                <a:schemeClr val="dk1"/>
              </a:solidFill>
              <a:latin typeface="Calibri"/>
              <a:ea typeface="Calibri"/>
              <a:cs typeface="Calibri"/>
              <a:sym typeface="Calibri"/>
            </a:endParaRPr>
          </a:p>
        </p:txBody>
      </p:sp>
      <p:sp>
        <p:nvSpPr>
          <p:cNvPr id="39" name="Google Shape;39;p6"/>
          <p:cNvSpPr/>
          <p:nvPr/>
        </p:nvSpPr>
        <p:spPr>
          <a:xfrm>
            <a:off x="548640" y="3108960"/>
            <a:ext cx="822960" cy="822960"/>
          </a:xfrm>
          <a:prstGeom prst="ellipse">
            <a:avLst/>
          </a:prstGeom>
          <a:solidFill>
            <a:schemeClr val="accent3"/>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0" name="Google Shape;40;p6"/>
          <p:cNvPicPr preferRelativeResize="0"/>
          <p:nvPr/>
        </p:nvPicPr>
        <p:blipFill rotWithShape="1">
          <a:blip r:embed="rId4">
            <a:alphaModFix/>
          </a:blip>
          <a:srcRect b="0" l="0" r="0" t="0"/>
          <a:stretch/>
        </p:blipFill>
        <p:spPr>
          <a:xfrm>
            <a:off x="754380" y="3314700"/>
            <a:ext cx="411480" cy="411480"/>
          </a:xfrm>
          <a:prstGeom prst="rect">
            <a:avLst/>
          </a:prstGeom>
          <a:noFill/>
          <a:ln>
            <a:noFill/>
          </a:ln>
        </p:spPr>
      </p:pic>
      <p:sp>
        <p:nvSpPr>
          <p:cNvPr id="41" name="Google Shape;41;p6"/>
          <p:cNvSpPr txBox="1"/>
          <p:nvPr/>
        </p:nvSpPr>
        <p:spPr>
          <a:xfrm>
            <a:off x="1600200" y="3127248"/>
            <a:ext cx="40233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200"/>
              <a:buFont typeface="Calibri"/>
              <a:buNone/>
            </a:pPr>
            <a:r>
              <a:rPr b="1" i="0" lang="en-US" sz="2200" u="none" cap="none" strike="noStrike">
                <a:solidFill>
                  <a:schemeClr val="dk1"/>
                </a:solidFill>
                <a:latin typeface="Calibri"/>
                <a:ea typeface="Calibri"/>
                <a:cs typeface="Calibri"/>
                <a:sym typeface="Calibri"/>
              </a:rPr>
              <a:t>Agents triage the queue</a:t>
            </a:r>
            <a:endParaRPr b="0" i="0" sz="2200" u="none" cap="none" strike="noStrike">
              <a:solidFill>
                <a:schemeClr val="dk1"/>
              </a:solidFill>
              <a:latin typeface="Calibri"/>
              <a:ea typeface="Calibri"/>
              <a:cs typeface="Calibri"/>
              <a:sym typeface="Calibri"/>
            </a:endParaRPr>
          </a:p>
        </p:txBody>
      </p:sp>
      <p:sp>
        <p:nvSpPr>
          <p:cNvPr id="42" name="Google Shape;42;p6"/>
          <p:cNvSpPr txBox="1"/>
          <p:nvPr/>
        </p:nvSpPr>
        <p:spPr>
          <a:xfrm>
            <a:off x="1600200" y="3566160"/>
            <a:ext cx="402336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0" i="0" lang="en-US" sz="1600" u="none" cap="none" strike="noStrike">
                <a:solidFill>
                  <a:schemeClr val="dk2"/>
                </a:solidFill>
                <a:latin typeface="Calibri"/>
                <a:ea typeface="Calibri"/>
                <a:cs typeface="Calibri"/>
                <a:sym typeface="Calibri"/>
              </a:rPr>
              <a:t>Filter by status, search, assign an owner</a:t>
            </a:r>
            <a:endParaRPr b="0" i="0" sz="1600" u="none" cap="none" strike="noStrike">
              <a:solidFill>
                <a:schemeClr val="dk1"/>
              </a:solidFill>
              <a:latin typeface="Calibri"/>
              <a:ea typeface="Calibri"/>
              <a:cs typeface="Calibri"/>
              <a:sym typeface="Calibri"/>
            </a:endParaRPr>
          </a:p>
        </p:txBody>
      </p:sp>
      <p:sp>
        <p:nvSpPr>
          <p:cNvPr id="43" name="Google Shape;43;p6"/>
          <p:cNvSpPr/>
          <p:nvPr/>
        </p:nvSpPr>
        <p:spPr>
          <a:xfrm>
            <a:off x="548640" y="4663440"/>
            <a:ext cx="822960" cy="822960"/>
          </a:xfrm>
          <a:prstGeom prst="ellipse">
            <a:avLst/>
          </a:prstGeom>
          <a:solidFill>
            <a:schemeClr val="accent4"/>
          </a:solidFill>
          <a:ln cap="flat" cmpd="sng" w="127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4" name="Google Shape;44;p6"/>
          <p:cNvPicPr preferRelativeResize="0"/>
          <p:nvPr/>
        </p:nvPicPr>
        <p:blipFill rotWithShape="1">
          <a:blip r:embed="rId5">
            <a:alphaModFix/>
          </a:blip>
          <a:srcRect b="0" l="0" r="0" t="0"/>
          <a:stretch/>
        </p:blipFill>
        <p:spPr>
          <a:xfrm>
            <a:off x="754380" y="4869180"/>
            <a:ext cx="411480" cy="411480"/>
          </a:xfrm>
          <a:prstGeom prst="rect">
            <a:avLst/>
          </a:prstGeom>
          <a:noFill/>
          <a:ln>
            <a:noFill/>
          </a:ln>
        </p:spPr>
      </p:pic>
      <p:sp>
        <p:nvSpPr>
          <p:cNvPr id="45" name="Google Shape;45;p6"/>
          <p:cNvSpPr txBox="1"/>
          <p:nvPr/>
        </p:nvSpPr>
        <p:spPr>
          <a:xfrm>
            <a:off x="1600200" y="4681728"/>
            <a:ext cx="40233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200"/>
              <a:buFont typeface="Calibri"/>
              <a:buNone/>
            </a:pPr>
            <a:r>
              <a:rPr b="1" i="0" lang="en-US" sz="2200" u="none" cap="none" strike="noStrike">
                <a:solidFill>
                  <a:schemeClr val="dk1"/>
                </a:solidFill>
                <a:latin typeface="Calibri"/>
                <a:ea typeface="Calibri"/>
                <a:cs typeface="Calibri"/>
                <a:sym typeface="Calibri"/>
              </a:rPr>
              <a:t>Talk, then close</a:t>
            </a:r>
            <a:endParaRPr b="0" i="0" sz="2200" u="none" cap="none" strike="noStrike">
              <a:solidFill>
                <a:schemeClr val="dk1"/>
              </a:solidFill>
              <a:latin typeface="Calibri"/>
              <a:ea typeface="Calibri"/>
              <a:cs typeface="Calibri"/>
              <a:sym typeface="Calibri"/>
            </a:endParaRPr>
          </a:p>
        </p:txBody>
      </p:sp>
      <p:sp>
        <p:nvSpPr>
          <p:cNvPr id="46" name="Google Shape;46;p6"/>
          <p:cNvSpPr txBox="1"/>
          <p:nvPr/>
        </p:nvSpPr>
        <p:spPr>
          <a:xfrm>
            <a:off x="1600200" y="5120640"/>
            <a:ext cx="402336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0" i="0" lang="en-US" sz="1600" u="none" cap="none" strike="noStrike">
                <a:solidFill>
                  <a:schemeClr val="dk2"/>
                </a:solidFill>
                <a:latin typeface="Calibri"/>
                <a:ea typeface="Calibri"/>
                <a:cs typeface="Calibri"/>
                <a:sym typeface="Calibri"/>
              </a:rPr>
              <a:t>Comment thread; closed tickets are frozen until reopened</a:t>
            </a:r>
            <a:endParaRPr b="0" i="0" sz="1600" u="none" cap="none" strike="noStrike">
              <a:solidFill>
                <a:schemeClr val="dk1"/>
              </a:solidFill>
              <a:latin typeface="Calibri"/>
              <a:ea typeface="Calibri"/>
              <a:cs typeface="Calibri"/>
              <a:sym typeface="Calibri"/>
            </a:endParaRPr>
          </a:p>
        </p:txBody>
      </p:sp>
      <p:sp>
        <p:nvSpPr>
          <p:cNvPr id="47" name="Google Shape;47;p6"/>
          <p:cNvSpPr/>
          <p:nvPr/>
        </p:nvSpPr>
        <p:spPr>
          <a:xfrm>
            <a:off x="6286690" y="137178"/>
            <a:ext cx="5577900" cy="4480500"/>
          </a:xfrm>
          <a:prstGeom prst="roundRect">
            <a:avLst>
              <a:gd fmla="val 2041" name="adj"/>
            </a:avLst>
          </a:prstGeom>
          <a:solidFill>
            <a:srgbClr val="F6F9F9"/>
          </a:solidFill>
          <a:ln cap="flat" cmpd="sng" w="19050">
            <a:solidFill>
              <a:schemeClr val="accent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6"/>
          <p:cNvSpPr txBox="1"/>
          <p:nvPr/>
        </p:nvSpPr>
        <p:spPr>
          <a:xfrm>
            <a:off x="6400073" y="1092728"/>
            <a:ext cx="5029200" cy="4480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2"/>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49" name="Google Shape;49;p6"/>
          <p:cNvSpPr txBox="1"/>
          <p:nvPr>
            <p:ph idx="4294967295" type="sldNum"/>
          </p:nvPr>
        </p:nvSpPr>
        <p:spPr>
          <a:xfrm>
            <a:off x="1115568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accent6"/>
                </a:solidFill>
                <a:latin typeface="Calibri"/>
                <a:ea typeface="Calibri"/>
                <a:cs typeface="Calibri"/>
                <a:sym typeface="Calibri"/>
              </a:rPr>
              <a:t>‹#›</a:t>
            </a:fld>
            <a:endParaRPr b="0" i="0" sz="1100" u="none" cap="none" strike="noStrike">
              <a:solidFill>
                <a:schemeClr val="accent6"/>
              </a:solidFill>
              <a:latin typeface="Calibri"/>
              <a:ea typeface="Calibri"/>
              <a:cs typeface="Calibri"/>
              <a:sym typeface="Calibri"/>
            </a:endParaRPr>
          </a:p>
        </p:txBody>
      </p:sp>
      <p:pic>
        <p:nvPicPr>
          <p:cNvPr id="50" name="Google Shape;50;p6" title="image-2.png"/>
          <p:cNvPicPr preferRelativeResize="0"/>
          <p:nvPr/>
        </p:nvPicPr>
        <p:blipFill>
          <a:blip r:embed="rId6">
            <a:alphaModFix/>
          </a:blip>
          <a:stretch>
            <a:fillRect/>
          </a:stretch>
        </p:blipFill>
        <p:spPr>
          <a:xfrm>
            <a:off x="5691700" y="81875"/>
            <a:ext cx="6172901" cy="659325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7"/>
          <p:cNvSpPr txBox="1"/>
          <p:nvPr>
            <p:ph type="title"/>
          </p:nvPr>
        </p:nvSpPr>
        <p:spPr>
          <a:xfrm>
            <a:off x="548640" y="36576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600"/>
              <a:buFont typeface="Cambria"/>
              <a:buNone/>
            </a:pPr>
            <a:r>
              <a:rPr b="1" lang="en-US" sz="3600">
                <a:solidFill>
                  <a:schemeClr val="dk1"/>
                </a:solidFill>
              </a:rPr>
              <a:t>The journey of one change</a:t>
            </a:r>
            <a:endParaRPr sz="3600"/>
          </a:p>
        </p:txBody>
      </p:sp>
      <p:sp>
        <p:nvSpPr>
          <p:cNvPr id="57" name="Google Shape;57;p7"/>
          <p:cNvSpPr/>
          <p:nvPr/>
        </p:nvSpPr>
        <p:spPr>
          <a:xfrm>
            <a:off x="548640" y="1554480"/>
            <a:ext cx="2468880" cy="1600200"/>
          </a:xfrm>
          <a:prstGeom prst="roundRect">
            <a:avLst>
              <a:gd fmla="val 6857"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7"/>
          <p:cNvSpPr/>
          <p:nvPr/>
        </p:nvSpPr>
        <p:spPr>
          <a:xfrm>
            <a:off x="731520" y="1737360"/>
            <a:ext cx="640080" cy="640080"/>
          </a:xfrm>
          <a:prstGeom prst="ellipse">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9" name="Google Shape;59;p7"/>
          <p:cNvPicPr preferRelativeResize="0"/>
          <p:nvPr/>
        </p:nvPicPr>
        <p:blipFill rotWithShape="1">
          <a:blip r:embed="rId3">
            <a:alphaModFix/>
          </a:blip>
          <a:srcRect b="0" l="0" r="0" t="0"/>
          <a:stretch/>
        </p:blipFill>
        <p:spPr>
          <a:xfrm>
            <a:off x="891540" y="1897380"/>
            <a:ext cx="320040" cy="320040"/>
          </a:xfrm>
          <a:prstGeom prst="rect">
            <a:avLst/>
          </a:prstGeom>
          <a:noFill/>
          <a:ln>
            <a:noFill/>
          </a:ln>
        </p:spPr>
      </p:pic>
      <p:sp>
        <p:nvSpPr>
          <p:cNvPr id="60" name="Google Shape;60;p7"/>
          <p:cNvSpPr txBox="1"/>
          <p:nvPr/>
        </p:nvSpPr>
        <p:spPr>
          <a:xfrm>
            <a:off x="1508760" y="1810512"/>
            <a:ext cx="1463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Git commit</a:t>
            </a:r>
            <a:endParaRPr b="0" i="0" sz="1800" u="none" cap="none" strike="noStrike">
              <a:solidFill>
                <a:schemeClr val="dk1"/>
              </a:solidFill>
              <a:latin typeface="Calibri"/>
              <a:ea typeface="Calibri"/>
              <a:cs typeface="Calibri"/>
              <a:sym typeface="Calibri"/>
            </a:endParaRPr>
          </a:p>
        </p:txBody>
      </p:sp>
      <p:sp>
        <p:nvSpPr>
          <p:cNvPr id="61" name="Google Shape;61;p7"/>
          <p:cNvSpPr txBox="1"/>
          <p:nvPr/>
        </p:nvSpPr>
        <p:spPr>
          <a:xfrm>
            <a:off x="731520" y="2560320"/>
            <a:ext cx="219456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push to main</a:t>
            </a:r>
            <a:endParaRPr b="0" i="0" sz="1400" u="none" cap="none" strike="noStrike">
              <a:solidFill>
                <a:schemeClr val="dk1"/>
              </a:solidFill>
              <a:latin typeface="Calibri"/>
              <a:ea typeface="Calibri"/>
              <a:cs typeface="Calibri"/>
              <a:sym typeface="Calibri"/>
            </a:endParaRPr>
          </a:p>
        </p:txBody>
      </p:sp>
      <p:sp>
        <p:nvSpPr>
          <p:cNvPr id="62" name="Google Shape;62;p7"/>
          <p:cNvSpPr/>
          <p:nvPr/>
        </p:nvSpPr>
        <p:spPr>
          <a:xfrm>
            <a:off x="3072384" y="2212848"/>
            <a:ext cx="301752" cy="274320"/>
          </a:xfrm>
          <a:prstGeom prst="rightArrow">
            <a:avLst>
              <a:gd fmla="val 50000" name="adj1"/>
              <a:gd fmla="val 50000" name="adj2"/>
            </a:avLst>
          </a:prstGeom>
          <a:solidFill>
            <a:schemeClr val="accent6"/>
          </a:solidFill>
          <a:ln cap="flat" cmpd="sng" w="127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7"/>
          <p:cNvSpPr/>
          <p:nvPr/>
        </p:nvSpPr>
        <p:spPr>
          <a:xfrm>
            <a:off x="3429000" y="1554480"/>
            <a:ext cx="2468880" cy="1600200"/>
          </a:xfrm>
          <a:prstGeom prst="roundRect">
            <a:avLst>
              <a:gd fmla="val 6857"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7"/>
          <p:cNvSpPr/>
          <p:nvPr/>
        </p:nvSpPr>
        <p:spPr>
          <a:xfrm>
            <a:off x="3611880" y="1737360"/>
            <a:ext cx="640080" cy="640080"/>
          </a:xfrm>
          <a:prstGeom prst="ellipse">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5" name="Google Shape;65;p7"/>
          <p:cNvPicPr preferRelativeResize="0"/>
          <p:nvPr/>
        </p:nvPicPr>
        <p:blipFill rotWithShape="1">
          <a:blip r:embed="rId4">
            <a:alphaModFix/>
          </a:blip>
          <a:srcRect b="0" l="0" r="0" t="0"/>
          <a:stretch/>
        </p:blipFill>
        <p:spPr>
          <a:xfrm>
            <a:off x="3771900" y="1897380"/>
            <a:ext cx="320040" cy="320040"/>
          </a:xfrm>
          <a:prstGeom prst="rect">
            <a:avLst/>
          </a:prstGeom>
          <a:noFill/>
          <a:ln>
            <a:noFill/>
          </a:ln>
        </p:spPr>
      </p:pic>
      <p:sp>
        <p:nvSpPr>
          <p:cNvPr id="66" name="Google Shape;66;p7"/>
          <p:cNvSpPr txBox="1"/>
          <p:nvPr/>
        </p:nvSpPr>
        <p:spPr>
          <a:xfrm>
            <a:off x="4389120" y="1810512"/>
            <a:ext cx="1463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CI tests</a:t>
            </a:r>
            <a:endParaRPr b="0" i="0" sz="1800" u="none" cap="none" strike="noStrike">
              <a:solidFill>
                <a:schemeClr val="dk1"/>
              </a:solidFill>
              <a:latin typeface="Calibri"/>
              <a:ea typeface="Calibri"/>
              <a:cs typeface="Calibri"/>
              <a:sym typeface="Calibri"/>
            </a:endParaRPr>
          </a:p>
        </p:txBody>
      </p:sp>
      <p:sp>
        <p:nvSpPr>
          <p:cNvPr id="67" name="Google Shape;67;p7"/>
          <p:cNvSpPr txBox="1"/>
          <p:nvPr/>
        </p:nvSpPr>
        <p:spPr>
          <a:xfrm>
            <a:off x="3611880" y="2560320"/>
            <a:ext cx="219456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pytest + ruff</a:t>
            </a:r>
            <a:endParaRPr b="0" i="0" sz="1400" u="none" cap="none" strike="noStrike">
              <a:solidFill>
                <a:schemeClr val="dk1"/>
              </a:solidFill>
              <a:latin typeface="Calibri"/>
              <a:ea typeface="Calibri"/>
              <a:cs typeface="Calibri"/>
              <a:sym typeface="Calibri"/>
            </a:endParaRPr>
          </a:p>
        </p:txBody>
      </p:sp>
      <p:sp>
        <p:nvSpPr>
          <p:cNvPr id="68" name="Google Shape;68;p7"/>
          <p:cNvSpPr/>
          <p:nvPr/>
        </p:nvSpPr>
        <p:spPr>
          <a:xfrm>
            <a:off x="5952744" y="2212848"/>
            <a:ext cx="301752" cy="274320"/>
          </a:xfrm>
          <a:prstGeom prst="rightArrow">
            <a:avLst>
              <a:gd fmla="val 50000" name="adj1"/>
              <a:gd fmla="val 50000" name="adj2"/>
            </a:avLst>
          </a:prstGeom>
          <a:solidFill>
            <a:schemeClr val="accent6"/>
          </a:solidFill>
          <a:ln cap="flat" cmpd="sng" w="127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7"/>
          <p:cNvSpPr/>
          <p:nvPr/>
        </p:nvSpPr>
        <p:spPr>
          <a:xfrm>
            <a:off x="6309360" y="1554480"/>
            <a:ext cx="2468880" cy="1600200"/>
          </a:xfrm>
          <a:prstGeom prst="roundRect">
            <a:avLst>
              <a:gd fmla="val 6857"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7"/>
          <p:cNvSpPr/>
          <p:nvPr/>
        </p:nvSpPr>
        <p:spPr>
          <a:xfrm>
            <a:off x="6492240" y="1737360"/>
            <a:ext cx="640080" cy="640080"/>
          </a:xfrm>
          <a:prstGeom prst="ellipse">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1" name="Google Shape;71;p7"/>
          <p:cNvPicPr preferRelativeResize="0"/>
          <p:nvPr/>
        </p:nvPicPr>
        <p:blipFill rotWithShape="1">
          <a:blip r:embed="rId5">
            <a:alphaModFix/>
          </a:blip>
          <a:srcRect b="0" l="0" r="0" t="0"/>
          <a:stretch/>
        </p:blipFill>
        <p:spPr>
          <a:xfrm>
            <a:off x="6652260" y="1897380"/>
            <a:ext cx="320040" cy="320040"/>
          </a:xfrm>
          <a:prstGeom prst="rect">
            <a:avLst/>
          </a:prstGeom>
          <a:noFill/>
          <a:ln>
            <a:noFill/>
          </a:ln>
        </p:spPr>
      </p:pic>
      <p:sp>
        <p:nvSpPr>
          <p:cNvPr id="72" name="Google Shape;72;p7"/>
          <p:cNvSpPr txBox="1"/>
          <p:nvPr/>
        </p:nvSpPr>
        <p:spPr>
          <a:xfrm>
            <a:off x="7269480" y="1810512"/>
            <a:ext cx="1463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Docker image</a:t>
            </a:r>
            <a:endParaRPr b="0" i="0" sz="1800" u="none" cap="none" strike="noStrike">
              <a:solidFill>
                <a:schemeClr val="dk1"/>
              </a:solidFill>
              <a:latin typeface="Calibri"/>
              <a:ea typeface="Calibri"/>
              <a:cs typeface="Calibri"/>
              <a:sym typeface="Calibri"/>
            </a:endParaRPr>
          </a:p>
        </p:txBody>
      </p:sp>
      <p:sp>
        <p:nvSpPr>
          <p:cNvPr id="73" name="Google Shape;73;p7"/>
          <p:cNvSpPr txBox="1"/>
          <p:nvPr/>
        </p:nvSpPr>
        <p:spPr>
          <a:xfrm>
            <a:off x="6492240" y="2560320"/>
            <a:ext cx="219456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backend + frontend</a:t>
            </a:r>
            <a:endParaRPr b="0" i="0" sz="1400" u="none" cap="none" strike="noStrike">
              <a:solidFill>
                <a:schemeClr val="dk1"/>
              </a:solidFill>
              <a:latin typeface="Calibri"/>
              <a:ea typeface="Calibri"/>
              <a:cs typeface="Calibri"/>
              <a:sym typeface="Calibri"/>
            </a:endParaRPr>
          </a:p>
        </p:txBody>
      </p:sp>
      <p:sp>
        <p:nvSpPr>
          <p:cNvPr id="74" name="Google Shape;74;p7"/>
          <p:cNvSpPr/>
          <p:nvPr/>
        </p:nvSpPr>
        <p:spPr>
          <a:xfrm>
            <a:off x="8833104" y="2212848"/>
            <a:ext cx="301752" cy="274320"/>
          </a:xfrm>
          <a:prstGeom prst="rightArrow">
            <a:avLst>
              <a:gd fmla="val 50000" name="adj1"/>
              <a:gd fmla="val 50000" name="adj2"/>
            </a:avLst>
          </a:prstGeom>
          <a:solidFill>
            <a:schemeClr val="accent6"/>
          </a:solidFill>
          <a:ln cap="flat" cmpd="sng" w="127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7"/>
          <p:cNvSpPr/>
          <p:nvPr/>
        </p:nvSpPr>
        <p:spPr>
          <a:xfrm>
            <a:off x="9189720" y="1554480"/>
            <a:ext cx="2468880" cy="1600200"/>
          </a:xfrm>
          <a:prstGeom prst="roundRect">
            <a:avLst>
              <a:gd fmla="val 6857"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7"/>
          <p:cNvSpPr/>
          <p:nvPr/>
        </p:nvSpPr>
        <p:spPr>
          <a:xfrm>
            <a:off x="9372600" y="1737360"/>
            <a:ext cx="640080" cy="640080"/>
          </a:xfrm>
          <a:prstGeom prst="ellipse">
            <a:avLst/>
          </a:prstGeom>
          <a:solidFill>
            <a:schemeClr val="accent5"/>
          </a:solidFill>
          <a:ln cap="flat" cmpd="sng" w="127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7" name="Google Shape;77;p7"/>
          <p:cNvPicPr preferRelativeResize="0"/>
          <p:nvPr/>
        </p:nvPicPr>
        <p:blipFill rotWithShape="1">
          <a:blip r:embed="rId6">
            <a:alphaModFix/>
          </a:blip>
          <a:srcRect b="0" l="0" r="0" t="0"/>
          <a:stretch/>
        </p:blipFill>
        <p:spPr>
          <a:xfrm>
            <a:off x="9532620" y="1897380"/>
            <a:ext cx="320040" cy="320040"/>
          </a:xfrm>
          <a:prstGeom prst="rect">
            <a:avLst/>
          </a:prstGeom>
          <a:noFill/>
          <a:ln>
            <a:noFill/>
          </a:ln>
        </p:spPr>
      </p:pic>
      <p:sp>
        <p:nvSpPr>
          <p:cNvPr id="78" name="Google Shape;78;p7"/>
          <p:cNvSpPr txBox="1"/>
          <p:nvPr/>
        </p:nvSpPr>
        <p:spPr>
          <a:xfrm>
            <a:off x="10149840" y="1810512"/>
            <a:ext cx="1463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Security scan</a:t>
            </a:r>
            <a:endParaRPr b="0" i="0" sz="1800" u="none" cap="none" strike="noStrike">
              <a:solidFill>
                <a:schemeClr val="dk1"/>
              </a:solidFill>
              <a:latin typeface="Calibri"/>
              <a:ea typeface="Calibri"/>
              <a:cs typeface="Calibri"/>
              <a:sym typeface="Calibri"/>
            </a:endParaRPr>
          </a:p>
        </p:txBody>
      </p:sp>
      <p:sp>
        <p:nvSpPr>
          <p:cNvPr id="79" name="Google Shape;79;p7"/>
          <p:cNvSpPr txBox="1"/>
          <p:nvPr/>
        </p:nvSpPr>
        <p:spPr>
          <a:xfrm>
            <a:off x="9372600" y="2560320"/>
            <a:ext cx="219456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Trivy: HIGH / CRITICAL</a:t>
            </a:r>
            <a:endParaRPr b="0" i="0" sz="1400" u="none" cap="none" strike="noStrike">
              <a:solidFill>
                <a:schemeClr val="dk1"/>
              </a:solidFill>
              <a:latin typeface="Calibri"/>
              <a:ea typeface="Calibri"/>
              <a:cs typeface="Calibri"/>
              <a:sym typeface="Calibri"/>
            </a:endParaRPr>
          </a:p>
        </p:txBody>
      </p:sp>
      <p:sp>
        <p:nvSpPr>
          <p:cNvPr id="80" name="Google Shape;80;p7"/>
          <p:cNvSpPr/>
          <p:nvPr/>
        </p:nvSpPr>
        <p:spPr>
          <a:xfrm>
            <a:off x="548640" y="3474720"/>
            <a:ext cx="2468880" cy="1600200"/>
          </a:xfrm>
          <a:prstGeom prst="roundRect">
            <a:avLst>
              <a:gd fmla="val 6857"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7"/>
          <p:cNvSpPr/>
          <p:nvPr/>
        </p:nvSpPr>
        <p:spPr>
          <a:xfrm>
            <a:off x="731520" y="3657600"/>
            <a:ext cx="640080" cy="640080"/>
          </a:xfrm>
          <a:prstGeom prst="ellipse">
            <a:avLst/>
          </a:prstGeom>
          <a:solidFill>
            <a:schemeClr val="accent3"/>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2" name="Google Shape;82;p7"/>
          <p:cNvPicPr preferRelativeResize="0"/>
          <p:nvPr/>
        </p:nvPicPr>
        <p:blipFill rotWithShape="1">
          <a:blip r:embed="rId7">
            <a:alphaModFix/>
          </a:blip>
          <a:srcRect b="0" l="0" r="0" t="0"/>
          <a:stretch/>
        </p:blipFill>
        <p:spPr>
          <a:xfrm>
            <a:off x="891540" y="3817620"/>
            <a:ext cx="320040" cy="320040"/>
          </a:xfrm>
          <a:prstGeom prst="rect">
            <a:avLst/>
          </a:prstGeom>
          <a:noFill/>
          <a:ln>
            <a:noFill/>
          </a:ln>
        </p:spPr>
      </p:pic>
      <p:sp>
        <p:nvSpPr>
          <p:cNvPr id="83" name="Google Shape;83;p7"/>
          <p:cNvSpPr txBox="1"/>
          <p:nvPr/>
        </p:nvSpPr>
        <p:spPr>
          <a:xfrm>
            <a:off x="1508760" y="3730752"/>
            <a:ext cx="1463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Registry</a:t>
            </a:r>
            <a:endParaRPr b="0" i="0" sz="1800" u="none" cap="none" strike="noStrike">
              <a:solidFill>
                <a:schemeClr val="dk1"/>
              </a:solidFill>
              <a:latin typeface="Calibri"/>
              <a:ea typeface="Calibri"/>
              <a:cs typeface="Calibri"/>
              <a:sym typeface="Calibri"/>
            </a:endParaRPr>
          </a:p>
        </p:txBody>
      </p:sp>
      <p:sp>
        <p:nvSpPr>
          <p:cNvPr id="84" name="Google Shape;84;p7"/>
          <p:cNvSpPr txBox="1"/>
          <p:nvPr/>
        </p:nvSpPr>
        <p:spPr>
          <a:xfrm>
            <a:off x="731520" y="4480560"/>
            <a:ext cx="219456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GHCR, tag = commit SHA</a:t>
            </a:r>
            <a:endParaRPr b="0" i="0" sz="1400" u="none" cap="none" strike="noStrike">
              <a:solidFill>
                <a:schemeClr val="dk1"/>
              </a:solidFill>
              <a:latin typeface="Calibri"/>
              <a:ea typeface="Calibri"/>
              <a:cs typeface="Calibri"/>
              <a:sym typeface="Calibri"/>
            </a:endParaRPr>
          </a:p>
        </p:txBody>
      </p:sp>
      <p:sp>
        <p:nvSpPr>
          <p:cNvPr id="85" name="Google Shape;85;p7"/>
          <p:cNvSpPr/>
          <p:nvPr/>
        </p:nvSpPr>
        <p:spPr>
          <a:xfrm>
            <a:off x="3072384" y="4133088"/>
            <a:ext cx="301752" cy="274320"/>
          </a:xfrm>
          <a:prstGeom prst="rightArrow">
            <a:avLst>
              <a:gd fmla="val 50000" name="adj1"/>
              <a:gd fmla="val 50000" name="adj2"/>
            </a:avLst>
          </a:prstGeom>
          <a:solidFill>
            <a:schemeClr val="accent6"/>
          </a:solidFill>
          <a:ln cap="flat" cmpd="sng" w="127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7"/>
          <p:cNvSpPr/>
          <p:nvPr/>
        </p:nvSpPr>
        <p:spPr>
          <a:xfrm>
            <a:off x="3429000" y="3474720"/>
            <a:ext cx="2468880" cy="1600200"/>
          </a:xfrm>
          <a:prstGeom prst="roundRect">
            <a:avLst>
              <a:gd fmla="val 6857"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7"/>
          <p:cNvSpPr/>
          <p:nvPr/>
        </p:nvSpPr>
        <p:spPr>
          <a:xfrm>
            <a:off x="3611880" y="3657600"/>
            <a:ext cx="640080" cy="64008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8" name="Google Shape;88;p7"/>
          <p:cNvPicPr preferRelativeResize="0"/>
          <p:nvPr/>
        </p:nvPicPr>
        <p:blipFill rotWithShape="1">
          <a:blip r:embed="rId8">
            <a:alphaModFix/>
          </a:blip>
          <a:srcRect b="0" l="0" r="0" t="0"/>
          <a:stretch/>
        </p:blipFill>
        <p:spPr>
          <a:xfrm>
            <a:off x="3771900" y="3817620"/>
            <a:ext cx="320040" cy="320040"/>
          </a:xfrm>
          <a:prstGeom prst="rect">
            <a:avLst/>
          </a:prstGeom>
          <a:noFill/>
          <a:ln>
            <a:noFill/>
          </a:ln>
        </p:spPr>
      </p:pic>
      <p:sp>
        <p:nvSpPr>
          <p:cNvPr id="89" name="Google Shape;89;p7"/>
          <p:cNvSpPr txBox="1"/>
          <p:nvPr/>
        </p:nvSpPr>
        <p:spPr>
          <a:xfrm>
            <a:off x="4389120" y="3730752"/>
            <a:ext cx="1463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Terraform</a:t>
            </a:r>
            <a:endParaRPr b="0" i="0" sz="1800" u="none" cap="none" strike="noStrike">
              <a:solidFill>
                <a:schemeClr val="dk1"/>
              </a:solidFill>
              <a:latin typeface="Calibri"/>
              <a:ea typeface="Calibri"/>
              <a:cs typeface="Calibri"/>
              <a:sym typeface="Calibri"/>
            </a:endParaRPr>
          </a:p>
        </p:txBody>
      </p:sp>
      <p:sp>
        <p:nvSpPr>
          <p:cNvPr id="90" name="Google Shape;90;p7"/>
          <p:cNvSpPr txBox="1"/>
          <p:nvPr/>
        </p:nvSpPr>
        <p:spPr>
          <a:xfrm>
            <a:off x="3611880" y="4480560"/>
            <a:ext cx="219456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AWS VPC + EKS</a:t>
            </a:r>
            <a:endParaRPr b="0" i="0" sz="1400" u="none" cap="none" strike="noStrike">
              <a:solidFill>
                <a:schemeClr val="dk1"/>
              </a:solidFill>
              <a:latin typeface="Calibri"/>
              <a:ea typeface="Calibri"/>
              <a:cs typeface="Calibri"/>
              <a:sym typeface="Calibri"/>
            </a:endParaRPr>
          </a:p>
        </p:txBody>
      </p:sp>
      <p:sp>
        <p:nvSpPr>
          <p:cNvPr id="91" name="Google Shape;91;p7"/>
          <p:cNvSpPr/>
          <p:nvPr/>
        </p:nvSpPr>
        <p:spPr>
          <a:xfrm>
            <a:off x="5952744" y="4133088"/>
            <a:ext cx="301752" cy="274320"/>
          </a:xfrm>
          <a:prstGeom prst="rightArrow">
            <a:avLst>
              <a:gd fmla="val 50000" name="adj1"/>
              <a:gd fmla="val 50000" name="adj2"/>
            </a:avLst>
          </a:prstGeom>
          <a:solidFill>
            <a:schemeClr val="accent6"/>
          </a:solidFill>
          <a:ln cap="flat" cmpd="sng" w="127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7"/>
          <p:cNvSpPr/>
          <p:nvPr/>
        </p:nvSpPr>
        <p:spPr>
          <a:xfrm>
            <a:off x="6309360" y="3474720"/>
            <a:ext cx="2468880" cy="1600200"/>
          </a:xfrm>
          <a:prstGeom prst="roundRect">
            <a:avLst>
              <a:gd fmla="val 6857"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7"/>
          <p:cNvSpPr/>
          <p:nvPr/>
        </p:nvSpPr>
        <p:spPr>
          <a:xfrm>
            <a:off x="6492240" y="3657600"/>
            <a:ext cx="640080" cy="640080"/>
          </a:xfrm>
          <a:prstGeom prst="ellipse">
            <a:avLst/>
          </a:prstGeom>
          <a:solidFill>
            <a:schemeClr val="accent4"/>
          </a:solidFill>
          <a:ln cap="flat" cmpd="sng" w="127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4" name="Google Shape;94;p7"/>
          <p:cNvPicPr preferRelativeResize="0"/>
          <p:nvPr/>
        </p:nvPicPr>
        <p:blipFill rotWithShape="1">
          <a:blip r:embed="rId9">
            <a:alphaModFix/>
          </a:blip>
          <a:srcRect b="0" l="0" r="0" t="0"/>
          <a:stretch/>
        </p:blipFill>
        <p:spPr>
          <a:xfrm>
            <a:off x="6652260" y="3817620"/>
            <a:ext cx="320040" cy="320040"/>
          </a:xfrm>
          <a:prstGeom prst="rect">
            <a:avLst/>
          </a:prstGeom>
          <a:noFill/>
          <a:ln>
            <a:noFill/>
          </a:ln>
        </p:spPr>
      </p:pic>
      <p:sp>
        <p:nvSpPr>
          <p:cNvPr id="95" name="Google Shape;95;p7"/>
          <p:cNvSpPr txBox="1"/>
          <p:nvPr/>
        </p:nvSpPr>
        <p:spPr>
          <a:xfrm>
            <a:off x="7269480" y="3730752"/>
            <a:ext cx="1463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Helm deploy</a:t>
            </a:r>
            <a:endParaRPr b="0" i="0" sz="1800" u="none" cap="none" strike="noStrike">
              <a:solidFill>
                <a:schemeClr val="dk1"/>
              </a:solidFill>
              <a:latin typeface="Calibri"/>
              <a:ea typeface="Calibri"/>
              <a:cs typeface="Calibri"/>
              <a:sym typeface="Calibri"/>
            </a:endParaRPr>
          </a:p>
        </p:txBody>
      </p:sp>
      <p:sp>
        <p:nvSpPr>
          <p:cNvPr id="96" name="Google Shape;96;p7"/>
          <p:cNvSpPr txBox="1"/>
          <p:nvPr/>
        </p:nvSpPr>
        <p:spPr>
          <a:xfrm>
            <a:off x="6492240" y="4480560"/>
            <a:ext cx="219456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Ingress + autoscaling</a:t>
            </a:r>
            <a:endParaRPr b="0" i="0" sz="1400" u="none" cap="none" strike="noStrike">
              <a:solidFill>
                <a:schemeClr val="dk1"/>
              </a:solidFill>
              <a:latin typeface="Calibri"/>
              <a:ea typeface="Calibri"/>
              <a:cs typeface="Calibri"/>
              <a:sym typeface="Calibri"/>
            </a:endParaRPr>
          </a:p>
        </p:txBody>
      </p:sp>
      <p:sp>
        <p:nvSpPr>
          <p:cNvPr id="97" name="Google Shape;97;p7"/>
          <p:cNvSpPr/>
          <p:nvPr/>
        </p:nvSpPr>
        <p:spPr>
          <a:xfrm>
            <a:off x="8833104" y="4133088"/>
            <a:ext cx="301752" cy="274320"/>
          </a:xfrm>
          <a:prstGeom prst="rightArrow">
            <a:avLst>
              <a:gd fmla="val 50000" name="adj1"/>
              <a:gd fmla="val 50000" name="adj2"/>
            </a:avLst>
          </a:prstGeom>
          <a:solidFill>
            <a:schemeClr val="accent6"/>
          </a:solidFill>
          <a:ln cap="flat" cmpd="sng" w="127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7"/>
          <p:cNvSpPr/>
          <p:nvPr/>
        </p:nvSpPr>
        <p:spPr>
          <a:xfrm>
            <a:off x="9189720" y="3474720"/>
            <a:ext cx="2468880" cy="1600200"/>
          </a:xfrm>
          <a:prstGeom prst="roundRect">
            <a:avLst>
              <a:gd fmla="val 6857"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7"/>
          <p:cNvSpPr/>
          <p:nvPr/>
        </p:nvSpPr>
        <p:spPr>
          <a:xfrm>
            <a:off x="9372600" y="3657600"/>
            <a:ext cx="640080" cy="640080"/>
          </a:xfrm>
          <a:prstGeom prst="ellipse">
            <a:avLst/>
          </a:prstGeom>
          <a:solidFill>
            <a:schemeClr val="accent6"/>
          </a:solidFill>
          <a:ln cap="flat" cmpd="sng" w="127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0" name="Google Shape;100;p7"/>
          <p:cNvPicPr preferRelativeResize="0"/>
          <p:nvPr/>
        </p:nvPicPr>
        <p:blipFill rotWithShape="1">
          <a:blip r:embed="rId10">
            <a:alphaModFix/>
          </a:blip>
          <a:srcRect b="0" l="0" r="0" t="0"/>
          <a:stretch/>
        </p:blipFill>
        <p:spPr>
          <a:xfrm>
            <a:off x="9532620" y="3817620"/>
            <a:ext cx="320040" cy="320040"/>
          </a:xfrm>
          <a:prstGeom prst="rect">
            <a:avLst/>
          </a:prstGeom>
          <a:noFill/>
          <a:ln>
            <a:noFill/>
          </a:ln>
        </p:spPr>
      </p:pic>
      <p:sp>
        <p:nvSpPr>
          <p:cNvPr id="101" name="Google Shape;101;p7"/>
          <p:cNvSpPr txBox="1"/>
          <p:nvPr/>
        </p:nvSpPr>
        <p:spPr>
          <a:xfrm>
            <a:off x="10149840" y="3730752"/>
            <a:ext cx="1463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Monitoring</a:t>
            </a:r>
            <a:endParaRPr b="0" i="0" sz="1800" u="none" cap="none" strike="noStrike">
              <a:solidFill>
                <a:schemeClr val="dk1"/>
              </a:solidFill>
              <a:latin typeface="Calibri"/>
              <a:ea typeface="Calibri"/>
              <a:cs typeface="Calibri"/>
              <a:sym typeface="Calibri"/>
            </a:endParaRPr>
          </a:p>
        </p:txBody>
      </p:sp>
      <p:sp>
        <p:nvSpPr>
          <p:cNvPr id="102" name="Google Shape;102;p7"/>
          <p:cNvSpPr txBox="1"/>
          <p:nvPr/>
        </p:nvSpPr>
        <p:spPr>
          <a:xfrm>
            <a:off x="9372600" y="4480560"/>
            <a:ext cx="219456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Prometheus + Grafana</a:t>
            </a:r>
            <a:endParaRPr b="0" i="0" sz="1400" u="none" cap="none" strike="noStrike">
              <a:solidFill>
                <a:schemeClr val="dk1"/>
              </a:solidFill>
              <a:latin typeface="Calibri"/>
              <a:ea typeface="Calibri"/>
              <a:cs typeface="Calibri"/>
              <a:sym typeface="Calibri"/>
            </a:endParaRPr>
          </a:p>
        </p:txBody>
      </p:sp>
      <p:sp>
        <p:nvSpPr>
          <p:cNvPr id="103" name="Google Shape;103;p7"/>
          <p:cNvSpPr txBox="1"/>
          <p:nvPr/>
        </p:nvSpPr>
        <p:spPr>
          <a:xfrm>
            <a:off x="548640" y="5486400"/>
            <a:ext cx="109728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000"/>
              <a:buFont typeface="Calibri"/>
              <a:buNone/>
            </a:pPr>
            <a:r>
              <a:rPr b="1" i="0" lang="en-US" sz="2000" u="none" cap="none" strike="noStrike">
                <a:solidFill>
                  <a:schemeClr val="accent1"/>
                </a:solidFill>
                <a:latin typeface="Calibri"/>
                <a:ea typeface="Calibri"/>
                <a:cs typeface="Calibri"/>
                <a:sym typeface="Calibri"/>
              </a:rPr>
              <a:t>Every step is a gate: if one fails, nothing after it runs.</a:t>
            </a:r>
            <a:endParaRPr b="0" i="0" sz="2000" u="none" cap="none" strike="noStrike">
              <a:solidFill>
                <a:schemeClr val="dk1"/>
              </a:solidFill>
              <a:latin typeface="Calibri"/>
              <a:ea typeface="Calibri"/>
              <a:cs typeface="Calibri"/>
              <a:sym typeface="Calibri"/>
            </a:endParaRPr>
          </a:p>
        </p:txBody>
      </p:sp>
      <p:sp>
        <p:nvSpPr>
          <p:cNvPr id="104" name="Google Shape;104;p7"/>
          <p:cNvSpPr txBox="1"/>
          <p:nvPr>
            <p:ph idx="4294967295" type="sldNum"/>
          </p:nvPr>
        </p:nvSpPr>
        <p:spPr>
          <a:xfrm>
            <a:off x="1115568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accent6"/>
                </a:solidFill>
                <a:latin typeface="Calibri"/>
                <a:ea typeface="Calibri"/>
                <a:cs typeface="Calibri"/>
                <a:sym typeface="Calibri"/>
              </a:rPr>
              <a:t>‹#›</a:t>
            </a:fld>
            <a:endParaRPr b="0" i="0" sz="1100" u="none" cap="none" strike="noStrike">
              <a:solidFill>
                <a:schemeClr val="accent6"/>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8"/>
          <p:cNvSpPr txBox="1"/>
          <p:nvPr>
            <p:ph type="title"/>
          </p:nvPr>
        </p:nvSpPr>
        <p:spPr>
          <a:xfrm>
            <a:off x="548640" y="36576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600"/>
              <a:buFont typeface="Cambria"/>
              <a:buNone/>
            </a:pPr>
            <a:r>
              <a:rPr b="1" lang="en-US" sz="3600">
                <a:solidFill>
                  <a:schemeClr val="dk1"/>
                </a:solidFill>
              </a:rPr>
              <a:t>Application: React, FastAPI, PostgreSQL</a:t>
            </a:r>
            <a:endParaRPr sz="3600"/>
          </a:p>
        </p:txBody>
      </p:sp>
      <p:sp>
        <p:nvSpPr>
          <p:cNvPr id="111" name="Google Shape;111;p8"/>
          <p:cNvSpPr/>
          <p:nvPr/>
        </p:nvSpPr>
        <p:spPr>
          <a:xfrm>
            <a:off x="548640" y="1554480"/>
            <a:ext cx="5120640" cy="1280160"/>
          </a:xfrm>
          <a:prstGeom prst="roundRect">
            <a:avLst>
              <a:gd fmla="val 8571"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8"/>
          <p:cNvSpPr/>
          <p:nvPr/>
        </p:nvSpPr>
        <p:spPr>
          <a:xfrm>
            <a:off x="777240" y="1810512"/>
            <a:ext cx="777240" cy="777240"/>
          </a:xfrm>
          <a:prstGeom prst="ellipse">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3" name="Google Shape;113;p8"/>
          <p:cNvPicPr preferRelativeResize="0"/>
          <p:nvPr/>
        </p:nvPicPr>
        <p:blipFill rotWithShape="1">
          <a:blip r:embed="rId3">
            <a:alphaModFix/>
          </a:blip>
          <a:srcRect b="0" l="0" r="0" t="0"/>
          <a:stretch/>
        </p:blipFill>
        <p:spPr>
          <a:xfrm>
            <a:off x="971550" y="2004822"/>
            <a:ext cx="388620" cy="388620"/>
          </a:xfrm>
          <a:prstGeom prst="rect">
            <a:avLst/>
          </a:prstGeom>
          <a:noFill/>
          <a:ln>
            <a:noFill/>
          </a:ln>
        </p:spPr>
      </p:pic>
      <p:sp>
        <p:nvSpPr>
          <p:cNvPr id="114" name="Google Shape;114;p8"/>
          <p:cNvSpPr txBox="1"/>
          <p:nvPr/>
        </p:nvSpPr>
        <p:spPr>
          <a:xfrm>
            <a:off x="1783080" y="1828800"/>
            <a:ext cx="374904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React + Vite</a:t>
            </a:r>
            <a:endParaRPr b="0" i="0" sz="2000" u="none" cap="none" strike="noStrike">
              <a:solidFill>
                <a:schemeClr val="dk1"/>
              </a:solidFill>
              <a:latin typeface="Calibri"/>
              <a:ea typeface="Calibri"/>
              <a:cs typeface="Calibri"/>
              <a:sym typeface="Calibri"/>
            </a:endParaRPr>
          </a:p>
        </p:txBody>
      </p:sp>
      <p:sp>
        <p:nvSpPr>
          <p:cNvPr id="115" name="Google Shape;115;p8"/>
          <p:cNvSpPr txBox="1"/>
          <p:nvPr/>
        </p:nvSpPr>
        <p:spPr>
          <a:xfrm>
            <a:off x="1783080" y="2267712"/>
            <a:ext cx="37490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Responsive UI, talks to /api</a:t>
            </a:r>
            <a:endParaRPr b="0" i="0" sz="1400" u="none" cap="none" strike="noStrike">
              <a:solidFill>
                <a:schemeClr val="dk1"/>
              </a:solidFill>
              <a:latin typeface="Calibri"/>
              <a:ea typeface="Calibri"/>
              <a:cs typeface="Calibri"/>
              <a:sym typeface="Calibri"/>
            </a:endParaRPr>
          </a:p>
        </p:txBody>
      </p:sp>
      <p:sp>
        <p:nvSpPr>
          <p:cNvPr id="116" name="Google Shape;116;p8"/>
          <p:cNvSpPr/>
          <p:nvPr/>
        </p:nvSpPr>
        <p:spPr>
          <a:xfrm>
            <a:off x="548640" y="3063240"/>
            <a:ext cx="5120640" cy="1280160"/>
          </a:xfrm>
          <a:prstGeom prst="roundRect">
            <a:avLst>
              <a:gd fmla="val 8571"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a:off x="777240" y="3319272"/>
            <a:ext cx="777240" cy="777240"/>
          </a:xfrm>
          <a:prstGeom prst="ellipse">
            <a:avLst/>
          </a:prstGeom>
          <a:solidFill>
            <a:schemeClr val="accent4"/>
          </a:solidFill>
          <a:ln cap="flat" cmpd="sng" w="127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8" name="Google Shape;118;p8"/>
          <p:cNvPicPr preferRelativeResize="0"/>
          <p:nvPr/>
        </p:nvPicPr>
        <p:blipFill rotWithShape="1">
          <a:blip r:embed="rId4">
            <a:alphaModFix/>
          </a:blip>
          <a:srcRect b="0" l="0" r="0" t="0"/>
          <a:stretch/>
        </p:blipFill>
        <p:spPr>
          <a:xfrm>
            <a:off x="971550" y="3513582"/>
            <a:ext cx="388620" cy="388620"/>
          </a:xfrm>
          <a:prstGeom prst="rect">
            <a:avLst/>
          </a:prstGeom>
          <a:noFill/>
          <a:ln>
            <a:noFill/>
          </a:ln>
        </p:spPr>
      </p:pic>
      <p:sp>
        <p:nvSpPr>
          <p:cNvPr id="119" name="Google Shape;119;p8"/>
          <p:cNvSpPr txBox="1"/>
          <p:nvPr/>
        </p:nvSpPr>
        <p:spPr>
          <a:xfrm>
            <a:off x="1783080" y="3337560"/>
            <a:ext cx="374904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FastAPI + SQLAlchemy</a:t>
            </a:r>
            <a:endParaRPr b="0" i="0" sz="2000" u="none" cap="none" strike="noStrike">
              <a:solidFill>
                <a:schemeClr val="dk1"/>
              </a:solidFill>
              <a:latin typeface="Calibri"/>
              <a:ea typeface="Calibri"/>
              <a:cs typeface="Calibri"/>
              <a:sym typeface="Calibri"/>
            </a:endParaRPr>
          </a:p>
        </p:txBody>
      </p:sp>
      <p:sp>
        <p:nvSpPr>
          <p:cNvPr id="120" name="Google Shape;120;p8"/>
          <p:cNvSpPr txBox="1"/>
          <p:nvPr/>
        </p:nvSpPr>
        <p:spPr>
          <a:xfrm>
            <a:off x="1783080" y="3776472"/>
            <a:ext cx="37490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Validation, business rules, /metrics</a:t>
            </a:r>
            <a:endParaRPr b="0" i="0" sz="1400" u="none" cap="none" strike="noStrike">
              <a:solidFill>
                <a:schemeClr val="dk1"/>
              </a:solidFill>
              <a:latin typeface="Calibri"/>
              <a:ea typeface="Calibri"/>
              <a:cs typeface="Calibri"/>
              <a:sym typeface="Calibri"/>
            </a:endParaRPr>
          </a:p>
        </p:txBody>
      </p:sp>
      <p:sp>
        <p:nvSpPr>
          <p:cNvPr id="121" name="Google Shape;121;p8"/>
          <p:cNvSpPr/>
          <p:nvPr/>
        </p:nvSpPr>
        <p:spPr>
          <a:xfrm>
            <a:off x="548640" y="4572000"/>
            <a:ext cx="5120640" cy="1280160"/>
          </a:xfrm>
          <a:prstGeom prst="roundRect">
            <a:avLst>
              <a:gd fmla="val 8571"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8"/>
          <p:cNvSpPr/>
          <p:nvPr/>
        </p:nvSpPr>
        <p:spPr>
          <a:xfrm>
            <a:off x="777240" y="4828032"/>
            <a:ext cx="777240" cy="77724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3" name="Google Shape;123;p8"/>
          <p:cNvPicPr preferRelativeResize="0"/>
          <p:nvPr/>
        </p:nvPicPr>
        <p:blipFill rotWithShape="1">
          <a:blip r:embed="rId5">
            <a:alphaModFix/>
          </a:blip>
          <a:srcRect b="0" l="0" r="0" t="0"/>
          <a:stretch/>
        </p:blipFill>
        <p:spPr>
          <a:xfrm>
            <a:off x="971550" y="5022342"/>
            <a:ext cx="388620" cy="388620"/>
          </a:xfrm>
          <a:prstGeom prst="rect">
            <a:avLst/>
          </a:prstGeom>
          <a:noFill/>
          <a:ln>
            <a:noFill/>
          </a:ln>
        </p:spPr>
      </p:pic>
      <p:sp>
        <p:nvSpPr>
          <p:cNvPr id="124" name="Google Shape;124;p8"/>
          <p:cNvSpPr txBox="1"/>
          <p:nvPr/>
        </p:nvSpPr>
        <p:spPr>
          <a:xfrm>
            <a:off x="1783080" y="4846320"/>
            <a:ext cx="374904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PostgreSQL + Alembic</a:t>
            </a:r>
            <a:endParaRPr b="0" i="0" sz="2000" u="none" cap="none" strike="noStrike">
              <a:solidFill>
                <a:schemeClr val="dk1"/>
              </a:solidFill>
              <a:latin typeface="Calibri"/>
              <a:ea typeface="Calibri"/>
              <a:cs typeface="Calibri"/>
              <a:sym typeface="Calibri"/>
            </a:endParaRPr>
          </a:p>
        </p:txBody>
      </p:sp>
      <p:sp>
        <p:nvSpPr>
          <p:cNvPr id="125" name="Google Shape;125;p8"/>
          <p:cNvSpPr txBox="1"/>
          <p:nvPr/>
        </p:nvSpPr>
        <p:spPr>
          <a:xfrm>
            <a:off x="1783080" y="5285232"/>
            <a:ext cx="37490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Tables created by versioned migrations</a:t>
            </a:r>
            <a:endParaRPr b="0" i="0" sz="1400" u="none" cap="none" strike="noStrike">
              <a:solidFill>
                <a:schemeClr val="dk1"/>
              </a:solidFill>
              <a:latin typeface="Calibri"/>
              <a:ea typeface="Calibri"/>
              <a:cs typeface="Calibri"/>
              <a:sym typeface="Calibri"/>
            </a:endParaRPr>
          </a:p>
        </p:txBody>
      </p:sp>
      <p:graphicFrame>
        <p:nvGraphicFramePr>
          <p:cNvPr id="126" name="Google Shape;126;p8"/>
          <p:cNvGraphicFramePr/>
          <p:nvPr/>
        </p:nvGraphicFramePr>
        <p:xfrm>
          <a:off x="6035040" y="1554480"/>
          <a:ext cx="3000000" cy="3000000"/>
        </p:xfrm>
        <a:graphic>
          <a:graphicData uri="http://schemas.openxmlformats.org/drawingml/2006/table">
            <a:tbl>
              <a:tblPr>
                <a:noFill/>
                <a:tableStyleId>{B3197550-6D2C-435A-BA49-2FEB13B048D0}</a:tableStyleId>
              </a:tblPr>
              <a:tblGrid>
                <a:gridCol w="914400"/>
                <a:gridCol w="2834650"/>
                <a:gridCol w="1828800"/>
              </a:tblGrid>
              <a:tr h="457200">
                <a:tc>
                  <a:txBody>
                    <a:bodyPr/>
                    <a:lstStyle/>
                    <a:p>
                      <a:pPr indent="0" lvl="0" marL="0" marR="0" rtl="0" algn="l">
                        <a:spcBef>
                          <a:spcPts val="0"/>
                        </a:spcBef>
                        <a:spcAft>
                          <a:spcPts val="0"/>
                        </a:spcAft>
                        <a:buClr>
                          <a:schemeClr val="lt1"/>
                        </a:buClr>
                        <a:buSzPts val="1400"/>
                        <a:buFont typeface="Calibri"/>
                        <a:buNone/>
                      </a:pPr>
                      <a:r>
                        <a:rPr b="1" lang="en-US" sz="1400" u="none" cap="none" strike="noStrike">
                          <a:solidFill>
                            <a:schemeClr val="lt1"/>
                          </a:solidFill>
                        </a:rPr>
                        <a:t>Method</a:t>
                      </a:r>
                      <a:endParaRPr sz="1400" u="none" cap="none" strike="noStrike"/>
                    </a:p>
                  </a:txBody>
                  <a:tcPr marT="0" marB="0" marR="91450" marL="91450" anchor="ctr">
                    <a:lnL cap="flat" cmpd="sng" w="9525">
                      <a:solidFill>
                        <a:srgbClr val="D3DCDF"/>
                      </a:solidFill>
                      <a:prstDash val="solid"/>
                      <a:round/>
                      <a:headEnd len="sm" w="sm" type="none"/>
                      <a:tailEnd len="sm" w="sm" type="none"/>
                    </a:lnL>
                    <a:lnR cap="flat" cmpd="sng" w="9525">
                      <a:solidFill>
                        <a:srgbClr val="D3DCDF"/>
                      </a:solidFill>
                      <a:prstDash val="solid"/>
                      <a:round/>
                      <a:headEnd len="sm" w="sm" type="none"/>
                      <a:tailEnd len="sm" w="sm" type="none"/>
                    </a:lnR>
                    <a:lnT cap="flat" cmpd="sng" w="9525">
                      <a:solidFill>
                        <a:srgbClr val="D3DCDF"/>
                      </a:solidFill>
                      <a:prstDash val="solid"/>
                      <a:round/>
                      <a:headEnd len="sm" w="sm" type="none"/>
                      <a:tailEnd len="sm" w="sm" type="none"/>
                    </a:lnT>
                    <a:lnB cap="flat" cmpd="sng" w="9525">
                      <a:solidFill>
                        <a:srgbClr val="D3DCDF"/>
                      </a:solidFill>
                      <a:prstDash val="solid"/>
                      <a:round/>
                      <a:headEnd len="sm" w="sm" type="none"/>
                      <a:tailEnd len="sm" w="sm" type="none"/>
                    </a:lnB>
                    <a:solidFill>
                      <a:schemeClr val="accent1"/>
                    </a:solidFill>
                  </a:tcPr>
                </a:tc>
                <a:tc>
                  <a:txBody>
                    <a:bodyPr/>
                    <a:lstStyle/>
                    <a:p>
                      <a:pPr indent="0" lvl="0" marL="0" marR="0" rtl="0" algn="l">
                        <a:spcBef>
                          <a:spcPts val="0"/>
                        </a:spcBef>
                        <a:spcAft>
                          <a:spcPts val="0"/>
                        </a:spcAft>
                        <a:buClr>
                          <a:schemeClr val="lt1"/>
                        </a:buClr>
                        <a:buSzPts val="1400"/>
                        <a:buFont typeface="Calibri"/>
                        <a:buNone/>
                      </a:pPr>
                      <a:r>
                        <a:rPr b="1" lang="en-US" sz="1400" u="none" cap="none" strike="noStrike">
                          <a:solidFill>
                            <a:schemeClr val="lt1"/>
                          </a:solidFill>
                        </a:rPr>
                        <a:t>Path</a:t>
                      </a:r>
                      <a:endParaRPr sz="1400" u="none" cap="none" strike="noStrike"/>
                    </a:p>
                  </a:txBody>
                  <a:tcPr marT="0" marB="0" marR="91450" marL="91450" anchor="ctr">
                    <a:lnL cap="flat" cmpd="sng" w="9525">
                      <a:solidFill>
                        <a:srgbClr val="D3DCDF"/>
                      </a:solidFill>
                      <a:prstDash val="solid"/>
                      <a:round/>
                      <a:headEnd len="sm" w="sm" type="none"/>
                      <a:tailEnd len="sm" w="sm" type="none"/>
                    </a:lnL>
                    <a:lnR cap="flat" cmpd="sng" w="9525">
                      <a:solidFill>
                        <a:srgbClr val="D3DCDF"/>
                      </a:solidFill>
                      <a:prstDash val="solid"/>
                      <a:round/>
                      <a:headEnd len="sm" w="sm" type="none"/>
                      <a:tailEnd len="sm" w="sm" type="none"/>
                    </a:lnR>
                    <a:lnT cap="flat" cmpd="sng" w="9525">
                      <a:solidFill>
                        <a:srgbClr val="D3DCDF"/>
                      </a:solidFill>
                      <a:prstDash val="solid"/>
                      <a:round/>
                      <a:headEnd len="sm" w="sm" type="none"/>
                      <a:tailEnd len="sm" w="sm" type="none"/>
                    </a:lnT>
                    <a:lnB cap="flat" cmpd="sng" w="9525">
                      <a:solidFill>
                        <a:srgbClr val="D3DCDF"/>
                      </a:solidFill>
                      <a:prstDash val="solid"/>
                      <a:round/>
                      <a:headEnd len="sm" w="sm" type="none"/>
                      <a:tailEnd len="sm" w="sm" type="none"/>
                    </a:lnB>
                    <a:solidFill>
                      <a:schemeClr val="accent1"/>
                    </a:solidFill>
                  </a:tcPr>
                </a:tc>
                <a:tc>
                  <a:txBody>
                    <a:bodyPr/>
                    <a:lstStyle/>
                    <a:p>
                      <a:pPr indent="0" lvl="0" marL="0" marR="0" rtl="0" algn="l">
                        <a:spcBef>
                          <a:spcPts val="0"/>
                        </a:spcBef>
                        <a:spcAft>
                          <a:spcPts val="0"/>
                        </a:spcAft>
                        <a:buClr>
                          <a:schemeClr val="lt1"/>
                        </a:buClr>
                        <a:buSzPts val="1400"/>
                        <a:buFont typeface="Calibri"/>
                        <a:buNone/>
                      </a:pPr>
                      <a:r>
                        <a:rPr b="1" lang="en-US" sz="1400" u="none" cap="none" strike="noStrike">
                          <a:solidFill>
                            <a:schemeClr val="lt1"/>
                          </a:solidFill>
                        </a:rPr>
                        <a:t>Purpose</a:t>
                      </a:r>
                      <a:endParaRPr sz="1400" u="none" cap="none" strike="noStrike"/>
                    </a:p>
                  </a:txBody>
                  <a:tcPr marT="0" marB="0" marR="91450" marL="91450" anchor="ctr">
                    <a:lnL cap="flat" cmpd="sng" w="9525">
                      <a:solidFill>
                        <a:srgbClr val="D3DCDF"/>
                      </a:solidFill>
                      <a:prstDash val="solid"/>
                      <a:round/>
                      <a:headEnd len="sm" w="sm" type="none"/>
                      <a:tailEnd len="sm" w="sm" type="none"/>
                    </a:lnL>
                    <a:lnR cap="flat" cmpd="sng" w="9525">
                      <a:solidFill>
                        <a:srgbClr val="D3DCDF"/>
                      </a:solidFill>
                      <a:prstDash val="solid"/>
                      <a:round/>
                      <a:headEnd len="sm" w="sm" type="none"/>
                      <a:tailEnd len="sm" w="sm" type="none"/>
                    </a:lnR>
                    <a:lnT cap="flat" cmpd="sng" w="9525">
                      <a:solidFill>
                        <a:srgbClr val="D3DCDF"/>
                      </a:solidFill>
                      <a:prstDash val="solid"/>
                      <a:round/>
                      <a:headEnd len="sm" w="sm" type="none"/>
                      <a:tailEnd len="sm" w="sm" type="none"/>
                    </a:lnT>
                    <a:lnB cap="flat" cmpd="sng" w="9525">
                      <a:solidFill>
                        <a:srgbClr val="D3DCDF"/>
                      </a:solidFill>
                      <a:prstDash val="solid"/>
                      <a:round/>
                      <a:headEnd len="sm" w="sm" type="none"/>
                      <a:tailEnd len="sm" w="sm" type="none"/>
                    </a:lnB>
                    <a:solidFill>
                      <a:schemeClr val="accent1"/>
                    </a:solidFill>
                  </a:tcPr>
                </a:tc>
              </a:tr>
              <a:tr h="457200">
                <a:tc>
                  <a:txBody>
                    <a:bodyPr/>
                    <a:lstStyle/>
                    <a:p>
                      <a:pPr indent="0" lvl="0" marL="0" marR="0" rtl="0" algn="l">
                        <a:spcBef>
                          <a:spcPts val="0"/>
                        </a:spcBef>
                        <a:spcAft>
                          <a:spcPts val="0"/>
                        </a:spcAft>
                        <a:buClr>
                          <a:schemeClr val="dk1"/>
                        </a:buClr>
                        <a:buSzPts val="1400"/>
                        <a:buFont typeface="Calibri"/>
                        <a:buNone/>
                      </a:pPr>
                      <a:r>
                        <a:rPr b="1" lang="en-US" sz="1400" u="none" cap="none" strike="noStrike">
                          <a:solidFill>
                            <a:schemeClr val="dk1"/>
                          </a:solidFill>
                        </a:rPr>
                        <a:t>POST</a:t>
                      </a:r>
                      <a:endParaRPr sz="1400" u="none" cap="none" strike="noStrike"/>
                    </a:p>
                  </a:txBody>
                  <a:tcPr marT="0" marB="0" marR="91450" marL="91450" anchor="ctr">
                    <a:lnL cap="flat" cmpd="sng" w="9525">
                      <a:solidFill>
                        <a:srgbClr val="D3DCDF"/>
                      </a:solidFill>
                      <a:prstDash val="solid"/>
                      <a:round/>
                      <a:headEnd len="sm" w="sm" type="none"/>
                      <a:tailEnd len="sm" w="sm" type="none"/>
                    </a:lnL>
                    <a:lnR cap="flat" cmpd="sng" w="9525">
                      <a:solidFill>
                        <a:srgbClr val="D3DCDF"/>
                      </a:solidFill>
                      <a:prstDash val="solid"/>
                      <a:round/>
                      <a:headEnd len="sm" w="sm" type="none"/>
                      <a:tailEnd len="sm" w="sm" type="none"/>
                    </a:lnR>
                    <a:lnT cap="flat" cmpd="sng" w="9525">
                      <a:solidFill>
                        <a:srgbClr val="D3DCDF"/>
                      </a:solidFill>
                      <a:prstDash val="solid"/>
                      <a:round/>
                      <a:headEnd len="sm" w="sm" type="none"/>
                      <a:tailEnd len="sm" w="sm" type="none"/>
                    </a:lnT>
                    <a:lnB cap="flat" cmpd="sng" w="9525">
                      <a:solidFill>
                        <a:srgbClr val="D3DCDF"/>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Calibri"/>
                        <a:buNone/>
                      </a:pPr>
                      <a:r>
                        <a:rPr lang="en-US" sz="1400" u="none" cap="none" strike="noStrike">
                          <a:solidFill>
                            <a:schemeClr val="dk1"/>
                          </a:solidFill>
                        </a:rPr>
                        <a:t>/api/tickets</a:t>
                      </a:r>
                      <a:endParaRPr sz="1400" u="none" cap="none" strike="noStrike"/>
                    </a:p>
                  </a:txBody>
                  <a:tcPr marT="0" marB="0" marR="91450" marL="91450" anchor="ctr">
                    <a:lnL cap="flat" cmpd="sng" w="9525">
                      <a:solidFill>
                        <a:srgbClr val="D3DCDF"/>
                      </a:solidFill>
                      <a:prstDash val="solid"/>
                      <a:round/>
                      <a:headEnd len="sm" w="sm" type="none"/>
                      <a:tailEnd len="sm" w="sm" type="none"/>
                    </a:lnL>
                    <a:lnR cap="flat" cmpd="sng" w="9525">
                      <a:solidFill>
                        <a:srgbClr val="D3DCDF"/>
                      </a:solidFill>
                      <a:prstDash val="solid"/>
                      <a:round/>
                      <a:headEnd len="sm" w="sm" type="none"/>
                      <a:tailEnd len="sm" w="sm" type="none"/>
                    </a:lnR>
                    <a:lnT cap="flat" cmpd="sng" w="9525">
                      <a:solidFill>
                        <a:srgbClr val="D3DCDF"/>
                      </a:solidFill>
                      <a:prstDash val="solid"/>
                      <a:round/>
                      <a:headEnd len="sm" w="sm" type="none"/>
                      <a:tailEnd len="sm" w="sm" type="none"/>
                    </a:lnT>
                    <a:lnB cap="flat" cmpd="sng" w="9525">
                      <a:solidFill>
                        <a:srgbClr val="D3DCDF"/>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Calibri"/>
                        <a:buNone/>
                      </a:pPr>
                      <a:r>
                        <a:rPr lang="en-US" sz="1400" u="none" cap="none" strike="noStrike">
                          <a:solidFill>
                            <a:schemeClr val="dk1"/>
                          </a:solidFill>
                        </a:rPr>
                        <a:t>Create ticket</a:t>
                      </a:r>
                      <a:endParaRPr sz="1400" u="none" cap="none" strike="noStrike"/>
                    </a:p>
                  </a:txBody>
                  <a:tcPr marT="0" marB="0" marR="91450" marL="91450" anchor="ctr">
                    <a:lnL cap="flat" cmpd="sng" w="9525">
                      <a:solidFill>
                        <a:srgbClr val="D3DCDF"/>
                      </a:solidFill>
                      <a:prstDash val="solid"/>
                      <a:round/>
                      <a:headEnd len="sm" w="sm" type="none"/>
                      <a:tailEnd len="sm" w="sm" type="none"/>
                    </a:lnL>
                    <a:lnR cap="flat" cmpd="sng" w="9525">
                      <a:solidFill>
                        <a:srgbClr val="D3DCDF"/>
                      </a:solidFill>
                      <a:prstDash val="solid"/>
                      <a:round/>
                      <a:headEnd len="sm" w="sm" type="none"/>
                      <a:tailEnd len="sm" w="sm" type="none"/>
                    </a:lnR>
                    <a:lnT cap="flat" cmpd="sng" w="9525">
                      <a:solidFill>
                        <a:srgbClr val="D3DCDF"/>
                      </a:solidFill>
                      <a:prstDash val="solid"/>
                      <a:round/>
                      <a:headEnd len="sm" w="sm" type="none"/>
                      <a:tailEnd len="sm" w="sm" type="none"/>
                    </a:lnT>
                    <a:lnB cap="flat" cmpd="sng" w="9525">
                      <a:solidFill>
                        <a:srgbClr val="D3DCDF"/>
                      </a:solidFill>
                      <a:prstDash val="solid"/>
                      <a:round/>
                      <a:headEnd len="sm" w="sm" type="none"/>
                      <a:tailEnd len="sm" w="sm" type="none"/>
                    </a:lnB>
                  </a:tcPr>
                </a:tc>
              </a:tr>
              <a:tr h="457200">
                <a:tc>
                  <a:txBody>
                    <a:bodyPr/>
                    <a:lstStyle/>
                    <a:p>
                      <a:pPr indent="0" lvl="0" marL="0" marR="0" rtl="0" algn="l">
                        <a:spcBef>
                          <a:spcPts val="0"/>
                        </a:spcBef>
                        <a:spcAft>
                          <a:spcPts val="0"/>
                        </a:spcAft>
                        <a:buClr>
                          <a:schemeClr val="dk1"/>
                        </a:buClr>
                        <a:buSzPts val="1400"/>
                        <a:buFont typeface="Calibri"/>
                        <a:buNone/>
                      </a:pPr>
                      <a:r>
                        <a:rPr b="1" lang="en-US" sz="1400" u="none" cap="none" strike="noStrike">
                          <a:solidFill>
                            <a:schemeClr val="dk1"/>
                          </a:solidFill>
                        </a:rPr>
                        <a:t>GET</a:t>
                      </a:r>
                      <a:endParaRPr sz="1400" u="none" cap="none" strike="noStrike"/>
                    </a:p>
                  </a:txBody>
                  <a:tcPr marT="0" marB="0" marR="91450" marL="91450" anchor="ctr">
                    <a:lnL cap="flat" cmpd="sng" w="9525">
                      <a:solidFill>
                        <a:srgbClr val="D3DCDF"/>
                      </a:solidFill>
                      <a:prstDash val="solid"/>
                      <a:round/>
                      <a:headEnd len="sm" w="sm" type="none"/>
                      <a:tailEnd len="sm" w="sm" type="none"/>
                    </a:lnL>
                    <a:lnR cap="flat" cmpd="sng" w="9525">
                      <a:solidFill>
                        <a:srgbClr val="D3DCDF"/>
                      </a:solidFill>
                      <a:prstDash val="solid"/>
                      <a:round/>
                      <a:headEnd len="sm" w="sm" type="none"/>
                      <a:tailEnd len="sm" w="sm" type="none"/>
                    </a:lnR>
                    <a:lnT cap="flat" cmpd="sng" w="9525">
                      <a:solidFill>
                        <a:srgbClr val="D3DCDF"/>
                      </a:solidFill>
                      <a:prstDash val="solid"/>
                      <a:round/>
                      <a:headEnd len="sm" w="sm" type="none"/>
                      <a:tailEnd len="sm" w="sm" type="none"/>
                    </a:lnT>
                    <a:lnB cap="flat" cmpd="sng" w="9525">
                      <a:solidFill>
                        <a:srgbClr val="D3DCDF"/>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Calibri"/>
                        <a:buNone/>
                      </a:pPr>
                      <a:r>
                        <a:rPr lang="en-US" sz="1400" u="none" cap="none" strike="noStrike">
                          <a:solidFill>
                            <a:schemeClr val="dk1"/>
                          </a:solidFill>
                        </a:rPr>
                        <a:t>/api/tickets</a:t>
                      </a:r>
                      <a:endParaRPr sz="1400" u="none" cap="none" strike="noStrike"/>
                    </a:p>
                  </a:txBody>
                  <a:tcPr marT="0" marB="0" marR="91450" marL="91450" anchor="ctr">
                    <a:lnL cap="flat" cmpd="sng" w="9525">
                      <a:solidFill>
                        <a:srgbClr val="D3DCDF"/>
                      </a:solidFill>
                      <a:prstDash val="solid"/>
                      <a:round/>
                      <a:headEnd len="sm" w="sm" type="none"/>
                      <a:tailEnd len="sm" w="sm" type="none"/>
                    </a:lnL>
                    <a:lnR cap="flat" cmpd="sng" w="9525">
                      <a:solidFill>
                        <a:srgbClr val="D3DCDF"/>
                      </a:solidFill>
                      <a:prstDash val="solid"/>
                      <a:round/>
                      <a:headEnd len="sm" w="sm" type="none"/>
                      <a:tailEnd len="sm" w="sm" type="none"/>
                    </a:lnR>
                    <a:lnT cap="flat" cmpd="sng" w="9525">
                      <a:solidFill>
                        <a:srgbClr val="D3DCDF"/>
                      </a:solidFill>
                      <a:prstDash val="solid"/>
                      <a:round/>
                      <a:headEnd len="sm" w="sm" type="none"/>
                      <a:tailEnd len="sm" w="sm" type="none"/>
                    </a:lnT>
                    <a:lnB cap="flat" cmpd="sng" w="9525">
                      <a:solidFill>
                        <a:srgbClr val="D3DCDF"/>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Calibri"/>
                        <a:buNone/>
                      </a:pPr>
                      <a:r>
                        <a:rPr lang="en-US" sz="1400" u="none" cap="none" strike="noStrike">
                          <a:solidFill>
                            <a:schemeClr val="dk1"/>
                          </a:solidFill>
                        </a:rPr>
                        <a:t>List, filter, search</a:t>
                      </a:r>
                      <a:endParaRPr sz="1400" u="none" cap="none" strike="noStrike"/>
                    </a:p>
                  </a:txBody>
                  <a:tcPr marT="0" marB="0" marR="91450" marL="91450" anchor="ctr">
                    <a:lnL cap="flat" cmpd="sng" w="9525">
                      <a:solidFill>
                        <a:srgbClr val="D3DCDF"/>
                      </a:solidFill>
                      <a:prstDash val="solid"/>
                      <a:round/>
                      <a:headEnd len="sm" w="sm" type="none"/>
                      <a:tailEnd len="sm" w="sm" type="none"/>
                    </a:lnL>
                    <a:lnR cap="flat" cmpd="sng" w="9525">
                      <a:solidFill>
                        <a:srgbClr val="D3DCDF"/>
                      </a:solidFill>
                      <a:prstDash val="solid"/>
                      <a:round/>
                      <a:headEnd len="sm" w="sm" type="none"/>
                      <a:tailEnd len="sm" w="sm" type="none"/>
                    </a:lnR>
                    <a:lnT cap="flat" cmpd="sng" w="9525">
                      <a:solidFill>
                        <a:srgbClr val="D3DCDF"/>
                      </a:solidFill>
                      <a:prstDash val="solid"/>
                      <a:round/>
                      <a:headEnd len="sm" w="sm" type="none"/>
                      <a:tailEnd len="sm" w="sm" type="none"/>
                    </a:lnT>
                    <a:lnB cap="flat" cmpd="sng" w="9525">
                      <a:solidFill>
                        <a:srgbClr val="D3DCDF"/>
                      </a:solidFill>
                      <a:prstDash val="solid"/>
                      <a:round/>
                      <a:headEnd len="sm" w="sm" type="none"/>
                      <a:tailEnd len="sm" w="sm" type="none"/>
                    </a:lnB>
                  </a:tcPr>
                </a:tc>
              </a:tr>
              <a:tr h="457200">
                <a:tc>
                  <a:txBody>
                    <a:bodyPr/>
                    <a:lstStyle/>
                    <a:p>
                      <a:pPr indent="0" lvl="0" marL="0" marR="0" rtl="0" algn="l">
                        <a:spcBef>
                          <a:spcPts val="0"/>
                        </a:spcBef>
                        <a:spcAft>
                          <a:spcPts val="0"/>
                        </a:spcAft>
                        <a:buClr>
                          <a:schemeClr val="dk1"/>
                        </a:buClr>
                        <a:buSzPts val="1400"/>
                        <a:buFont typeface="Calibri"/>
                        <a:buNone/>
                      </a:pPr>
                      <a:r>
                        <a:rPr b="1" lang="en-US" sz="1400" u="none" cap="none" strike="noStrike">
                          <a:solidFill>
                            <a:schemeClr val="dk1"/>
                          </a:solidFill>
                        </a:rPr>
                        <a:t>GET</a:t>
                      </a:r>
                      <a:endParaRPr sz="1400" u="none" cap="none" strike="noStrike"/>
                    </a:p>
                  </a:txBody>
                  <a:tcPr marT="0" marB="0" marR="91450" marL="91450" anchor="ctr">
                    <a:lnL cap="flat" cmpd="sng" w="9525">
                      <a:solidFill>
                        <a:srgbClr val="D3DCDF"/>
                      </a:solidFill>
                      <a:prstDash val="solid"/>
                      <a:round/>
                      <a:headEnd len="sm" w="sm" type="none"/>
                      <a:tailEnd len="sm" w="sm" type="none"/>
                    </a:lnL>
                    <a:lnR cap="flat" cmpd="sng" w="9525">
                      <a:solidFill>
                        <a:srgbClr val="D3DCDF"/>
                      </a:solidFill>
                      <a:prstDash val="solid"/>
                      <a:round/>
                      <a:headEnd len="sm" w="sm" type="none"/>
                      <a:tailEnd len="sm" w="sm" type="none"/>
                    </a:lnR>
                    <a:lnT cap="flat" cmpd="sng" w="9525">
                      <a:solidFill>
                        <a:srgbClr val="D3DCDF"/>
                      </a:solidFill>
                      <a:prstDash val="solid"/>
                      <a:round/>
                      <a:headEnd len="sm" w="sm" type="none"/>
                      <a:tailEnd len="sm" w="sm" type="none"/>
                    </a:lnT>
                    <a:lnB cap="flat" cmpd="sng" w="9525">
                      <a:solidFill>
                        <a:srgbClr val="D3DCDF"/>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Calibri"/>
                        <a:buNone/>
                      </a:pPr>
                      <a:r>
                        <a:rPr lang="en-US" sz="1400" u="none" cap="none" strike="noStrike">
                          <a:solidFill>
                            <a:schemeClr val="dk1"/>
                          </a:solidFill>
                        </a:rPr>
                        <a:t>/api/tickets/stats</a:t>
                      </a:r>
                      <a:endParaRPr sz="1400" u="none" cap="none" strike="noStrike"/>
                    </a:p>
                  </a:txBody>
                  <a:tcPr marT="0" marB="0" marR="91450" marL="91450" anchor="ctr">
                    <a:lnL cap="flat" cmpd="sng" w="9525">
                      <a:solidFill>
                        <a:srgbClr val="D3DCDF"/>
                      </a:solidFill>
                      <a:prstDash val="solid"/>
                      <a:round/>
                      <a:headEnd len="sm" w="sm" type="none"/>
                      <a:tailEnd len="sm" w="sm" type="none"/>
                    </a:lnL>
                    <a:lnR cap="flat" cmpd="sng" w="9525">
                      <a:solidFill>
                        <a:srgbClr val="D3DCDF"/>
                      </a:solidFill>
                      <a:prstDash val="solid"/>
                      <a:round/>
                      <a:headEnd len="sm" w="sm" type="none"/>
                      <a:tailEnd len="sm" w="sm" type="none"/>
                    </a:lnR>
                    <a:lnT cap="flat" cmpd="sng" w="9525">
                      <a:solidFill>
                        <a:srgbClr val="D3DCDF"/>
                      </a:solidFill>
                      <a:prstDash val="solid"/>
                      <a:round/>
                      <a:headEnd len="sm" w="sm" type="none"/>
                      <a:tailEnd len="sm" w="sm" type="none"/>
                    </a:lnT>
                    <a:lnB cap="flat" cmpd="sng" w="9525">
                      <a:solidFill>
                        <a:srgbClr val="D3DCDF"/>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Calibri"/>
                        <a:buNone/>
                      </a:pPr>
                      <a:r>
                        <a:rPr lang="en-US" sz="1400" u="none" cap="none" strike="noStrike">
                          <a:solidFill>
                            <a:schemeClr val="dk1"/>
                          </a:solidFill>
                        </a:rPr>
                        <a:t>Counts by status</a:t>
                      </a:r>
                      <a:endParaRPr sz="1400" u="none" cap="none" strike="noStrike"/>
                    </a:p>
                  </a:txBody>
                  <a:tcPr marT="0" marB="0" marR="91450" marL="91450" anchor="ctr">
                    <a:lnL cap="flat" cmpd="sng" w="9525">
                      <a:solidFill>
                        <a:srgbClr val="D3DCDF"/>
                      </a:solidFill>
                      <a:prstDash val="solid"/>
                      <a:round/>
                      <a:headEnd len="sm" w="sm" type="none"/>
                      <a:tailEnd len="sm" w="sm" type="none"/>
                    </a:lnL>
                    <a:lnR cap="flat" cmpd="sng" w="9525">
                      <a:solidFill>
                        <a:srgbClr val="D3DCDF"/>
                      </a:solidFill>
                      <a:prstDash val="solid"/>
                      <a:round/>
                      <a:headEnd len="sm" w="sm" type="none"/>
                      <a:tailEnd len="sm" w="sm" type="none"/>
                    </a:lnR>
                    <a:lnT cap="flat" cmpd="sng" w="9525">
                      <a:solidFill>
                        <a:srgbClr val="D3DCDF"/>
                      </a:solidFill>
                      <a:prstDash val="solid"/>
                      <a:round/>
                      <a:headEnd len="sm" w="sm" type="none"/>
                      <a:tailEnd len="sm" w="sm" type="none"/>
                    </a:lnT>
                    <a:lnB cap="flat" cmpd="sng" w="9525">
                      <a:solidFill>
                        <a:srgbClr val="D3DCDF"/>
                      </a:solidFill>
                      <a:prstDash val="solid"/>
                      <a:round/>
                      <a:headEnd len="sm" w="sm" type="none"/>
                      <a:tailEnd len="sm" w="sm" type="none"/>
                    </a:lnB>
                  </a:tcPr>
                </a:tc>
              </a:tr>
              <a:tr h="457200">
                <a:tc>
                  <a:txBody>
                    <a:bodyPr/>
                    <a:lstStyle/>
                    <a:p>
                      <a:pPr indent="0" lvl="0" marL="0" marR="0" rtl="0" algn="l">
                        <a:spcBef>
                          <a:spcPts val="0"/>
                        </a:spcBef>
                        <a:spcAft>
                          <a:spcPts val="0"/>
                        </a:spcAft>
                        <a:buClr>
                          <a:schemeClr val="dk1"/>
                        </a:buClr>
                        <a:buSzPts val="1400"/>
                        <a:buFont typeface="Calibri"/>
                        <a:buNone/>
                      </a:pPr>
                      <a:r>
                        <a:rPr b="1" lang="en-US" sz="1400" u="none" cap="none" strike="noStrike">
                          <a:solidFill>
                            <a:schemeClr val="dk1"/>
                          </a:solidFill>
                        </a:rPr>
                        <a:t>GET</a:t>
                      </a:r>
                      <a:endParaRPr sz="1400" u="none" cap="none" strike="noStrike"/>
                    </a:p>
                  </a:txBody>
                  <a:tcPr marT="0" marB="0" marR="91450" marL="91450" anchor="ctr">
                    <a:lnL cap="flat" cmpd="sng" w="9525">
                      <a:solidFill>
                        <a:srgbClr val="D3DCDF"/>
                      </a:solidFill>
                      <a:prstDash val="solid"/>
                      <a:round/>
                      <a:headEnd len="sm" w="sm" type="none"/>
                      <a:tailEnd len="sm" w="sm" type="none"/>
                    </a:lnL>
                    <a:lnR cap="flat" cmpd="sng" w="9525">
                      <a:solidFill>
                        <a:srgbClr val="D3DCDF"/>
                      </a:solidFill>
                      <a:prstDash val="solid"/>
                      <a:round/>
                      <a:headEnd len="sm" w="sm" type="none"/>
                      <a:tailEnd len="sm" w="sm" type="none"/>
                    </a:lnR>
                    <a:lnT cap="flat" cmpd="sng" w="9525">
                      <a:solidFill>
                        <a:srgbClr val="D3DCDF"/>
                      </a:solidFill>
                      <a:prstDash val="solid"/>
                      <a:round/>
                      <a:headEnd len="sm" w="sm" type="none"/>
                      <a:tailEnd len="sm" w="sm" type="none"/>
                    </a:lnT>
                    <a:lnB cap="flat" cmpd="sng" w="9525">
                      <a:solidFill>
                        <a:srgbClr val="D3DCDF"/>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Calibri"/>
                        <a:buNone/>
                      </a:pPr>
                      <a:r>
                        <a:rPr lang="en-US" sz="1400" u="none" cap="none" strike="noStrike">
                          <a:solidFill>
                            <a:schemeClr val="dk1"/>
                          </a:solidFill>
                        </a:rPr>
                        <a:t>/api/tickets/{id}</a:t>
                      </a:r>
                      <a:endParaRPr sz="1400" u="none" cap="none" strike="noStrike"/>
                    </a:p>
                  </a:txBody>
                  <a:tcPr marT="0" marB="0" marR="91450" marL="91450" anchor="ctr">
                    <a:lnL cap="flat" cmpd="sng" w="9525">
                      <a:solidFill>
                        <a:srgbClr val="D3DCDF"/>
                      </a:solidFill>
                      <a:prstDash val="solid"/>
                      <a:round/>
                      <a:headEnd len="sm" w="sm" type="none"/>
                      <a:tailEnd len="sm" w="sm" type="none"/>
                    </a:lnL>
                    <a:lnR cap="flat" cmpd="sng" w="9525">
                      <a:solidFill>
                        <a:srgbClr val="D3DCDF"/>
                      </a:solidFill>
                      <a:prstDash val="solid"/>
                      <a:round/>
                      <a:headEnd len="sm" w="sm" type="none"/>
                      <a:tailEnd len="sm" w="sm" type="none"/>
                    </a:lnR>
                    <a:lnT cap="flat" cmpd="sng" w="9525">
                      <a:solidFill>
                        <a:srgbClr val="D3DCDF"/>
                      </a:solidFill>
                      <a:prstDash val="solid"/>
                      <a:round/>
                      <a:headEnd len="sm" w="sm" type="none"/>
                      <a:tailEnd len="sm" w="sm" type="none"/>
                    </a:lnT>
                    <a:lnB cap="flat" cmpd="sng" w="9525">
                      <a:solidFill>
                        <a:srgbClr val="D3DCDF"/>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Calibri"/>
                        <a:buNone/>
                      </a:pPr>
                      <a:r>
                        <a:rPr lang="en-US" sz="1400" u="none" cap="none" strike="noStrike">
                          <a:solidFill>
                            <a:schemeClr val="dk1"/>
                          </a:solidFill>
                        </a:rPr>
                        <a:t>Ticket + comments</a:t>
                      </a:r>
                      <a:endParaRPr sz="1400" u="none" cap="none" strike="noStrike"/>
                    </a:p>
                  </a:txBody>
                  <a:tcPr marT="0" marB="0" marR="91450" marL="91450" anchor="ctr">
                    <a:lnL cap="flat" cmpd="sng" w="9525">
                      <a:solidFill>
                        <a:srgbClr val="D3DCDF"/>
                      </a:solidFill>
                      <a:prstDash val="solid"/>
                      <a:round/>
                      <a:headEnd len="sm" w="sm" type="none"/>
                      <a:tailEnd len="sm" w="sm" type="none"/>
                    </a:lnL>
                    <a:lnR cap="flat" cmpd="sng" w="9525">
                      <a:solidFill>
                        <a:srgbClr val="D3DCDF"/>
                      </a:solidFill>
                      <a:prstDash val="solid"/>
                      <a:round/>
                      <a:headEnd len="sm" w="sm" type="none"/>
                      <a:tailEnd len="sm" w="sm" type="none"/>
                    </a:lnR>
                    <a:lnT cap="flat" cmpd="sng" w="9525">
                      <a:solidFill>
                        <a:srgbClr val="D3DCDF"/>
                      </a:solidFill>
                      <a:prstDash val="solid"/>
                      <a:round/>
                      <a:headEnd len="sm" w="sm" type="none"/>
                      <a:tailEnd len="sm" w="sm" type="none"/>
                    </a:lnT>
                    <a:lnB cap="flat" cmpd="sng" w="9525">
                      <a:solidFill>
                        <a:srgbClr val="D3DCDF"/>
                      </a:solidFill>
                      <a:prstDash val="solid"/>
                      <a:round/>
                      <a:headEnd len="sm" w="sm" type="none"/>
                      <a:tailEnd len="sm" w="sm" type="none"/>
                    </a:lnB>
                  </a:tcPr>
                </a:tc>
              </a:tr>
              <a:tr h="457200">
                <a:tc>
                  <a:txBody>
                    <a:bodyPr/>
                    <a:lstStyle/>
                    <a:p>
                      <a:pPr indent="0" lvl="0" marL="0" marR="0" rtl="0" algn="l">
                        <a:spcBef>
                          <a:spcPts val="0"/>
                        </a:spcBef>
                        <a:spcAft>
                          <a:spcPts val="0"/>
                        </a:spcAft>
                        <a:buClr>
                          <a:schemeClr val="dk1"/>
                        </a:buClr>
                        <a:buSzPts val="1400"/>
                        <a:buFont typeface="Calibri"/>
                        <a:buNone/>
                      </a:pPr>
                      <a:r>
                        <a:rPr b="1" lang="en-US" sz="1400" u="none" cap="none" strike="noStrike">
                          <a:solidFill>
                            <a:schemeClr val="dk1"/>
                          </a:solidFill>
                        </a:rPr>
                        <a:t>PUT</a:t>
                      </a:r>
                      <a:endParaRPr sz="1400" u="none" cap="none" strike="noStrike"/>
                    </a:p>
                  </a:txBody>
                  <a:tcPr marT="0" marB="0" marR="91450" marL="91450" anchor="ctr">
                    <a:lnL cap="flat" cmpd="sng" w="9525">
                      <a:solidFill>
                        <a:srgbClr val="D3DCDF"/>
                      </a:solidFill>
                      <a:prstDash val="solid"/>
                      <a:round/>
                      <a:headEnd len="sm" w="sm" type="none"/>
                      <a:tailEnd len="sm" w="sm" type="none"/>
                    </a:lnL>
                    <a:lnR cap="flat" cmpd="sng" w="9525">
                      <a:solidFill>
                        <a:srgbClr val="D3DCDF"/>
                      </a:solidFill>
                      <a:prstDash val="solid"/>
                      <a:round/>
                      <a:headEnd len="sm" w="sm" type="none"/>
                      <a:tailEnd len="sm" w="sm" type="none"/>
                    </a:lnR>
                    <a:lnT cap="flat" cmpd="sng" w="9525">
                      <a:solidFill>
                        <a:srgbClr val="D3DCDF"/>
                      </a:solidFill>
                      <a:prstDash val="solid"/>
                      <a:round/>
                      <a:headEnd len="sm" w="sm" type="none"/>
                      <a:tailEnd len="sm" w="sm" type="none"/>
                    </a:lnT>
                    <a:lnB cap="flat" cmpd="sng" w="9525">
                      <a:solidFill>
                        <a:srgbClr val="D3DCDF"/>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Calibri"/>
                        <a:buNone/>
                      </a:pPr>
                      <a:r>
                        <a:rPr lang="en-US" sz="1400" u="none" cap="none" strike="noStrike">
                          <a:solidFill>
                            <a:schemeClr val="dk1"/>
                          </a:solidFill>
                        </a:rPr>
                        <a:t>/api/tickets/{id}</a:t>
                      </a:r>
                      <a:endParaRPr sz="1400" u="none" cap="none" strike="noStrike"/>
                    </a:p>
                  </a:txBody>
                  <a:tcPr marT="0" marB="0" marR="91450" marL="91450" anchor="ctr">
                    <a:lnL cap="flat" cmpd="sng" w="9525">
                      <a:solidFill>
                        <a:srgbClr val="D3DCDF"/>
                      </a:solidFill>
                      <a:prstDash val="solid"/>
                      <a:round/>
                      <a:headEnd len="sm" w="sm" type="none"/>
                      <a:tailEnd len="sm" w="sm" type="none"/>
                    </a:lnL>
                    <a:lnR cap="flat" cmpd="sng" w="9525">
                      <a:solidFill>
                        <a:srgbClr val="D3DCDF"/>
                      </a:solidFill>
                      <a:prstDash val="solid"/>
                      <a:round/>
                      <a:headEnd len="sm" w="sm" type="none"/>
                      <a:tailEnd len="sm" w="sm" type="none"/>
                    </a:lnR>
                    <a:lnT cap="flat" cmpd="sng" w="9525">
                      <a:solidFill>
                        <a:srgbClr val="D3DCDF"/>
                      </a:solidFill>
                      <a:prstDash val="solid"/>
                      <a:round/>
                      <a:headEnd len="sm" w="sm" type="none"/>
                      <a:tailEnd len="sm" w="sm" type="none"/>
                    </a:lnT>
                    <a:lnB cap="flat" cmpd="sng" w="9525">
                      <a:solidFill>
                        <a:srgbClr val="D3DCDF"/>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Calibri"/>
                        <a:buNone/>
                      </a:pPr>
                      <a:r>
                        <a:rPr lang="en-US" sz="1400" u="none" cap="none" strike="noStrike">
                          <a:solidFill>
                            <a:schemeClr val="dk1"/>
                          </a:solidFill>
                        </a:rPr>
                        <a:t>Update ticket</a:t>
                      </a:r>
                      <a:endParaRPr sz="1400" u="none" cap="none" strike="noStrike"/>
                    </a:p>
                  </a:txBody>
                  <a:tcPr marT="0" marB="0" marR="91450" marL="91450" anchor="ctr">
                    <a:lnL cap="flat" cmpd="sng" w="9525">
                      <a:solidFill>
                        <a:srgbClr val="D3DCDF"/>
                      </a:solidFill>
                      <a:prstDash val="solid"/>
                      <a:round/>
                      <a:headEnd len="sm" w="sm" type="none"/>
                      <a:tailEnd len="sm" w="sm" type="none"/>
                    </a:lnL>
                    <a:lnR cap="flat" cmpd="sng" w="9525">
                      <a:solidFill>
                        <a:srgbClr val="D3DCDF"/>
                      </a:solidFill>
                      <a:prstDash val="solid"/>
                      <a:round/>
                      <a:headEnd len="sm" w="sm" type="none"/>
                      <a:tailEnd len="sm" w="sm" type="none"/>
                    </a:lnR>
                    <a:lnT cap="flat" cmpd="sng" w="9525">
                      <a:solidFill>
                        <a:srgbClr val="D3DCDF"/>
                      </a:solidFill>
                      <a:prstDash val="solid"/>
                      <a:round/>
                      <a:headEnd len="sm" w="sm" type="none"/>
                      <a:tailEnd len="sm" w="sm" type="none"/>
                    </a:lnT>
                    <a:lnB cap="flat" cmpd="sng" w="9525">
                      <a:solidFill>
                        <a:srgbClr val="D3DCDF"/>
                      </a:solidFill>
                      <a:prstDash val="solid"/>
                      <a:round/>
                      <a:headEnd len="sm" w="sm" type="none"/>
                      <a:tailEnd len="sm" w="sm" type="none"/>
                    </a:lnB>
                  </a:tcPr>
                </a:tc>
              </a:tr>
              <a:tr h="457200">
                <a:tc>
                  <a:txBody>
                    <a:bodyPr/>
                    <a:lstStyle/>
                    <a:p>
                      <a:pPr indent="0" lvl="0" marL="0" marR="0" rtl="0" algn="l">
                        <a:spcBef>
                          <a:spcPts val="0"/>
                        </a:spcBef>
                        <a:spcAft>
                          <a:spcPts val="0"/>
                        </a:spcAft>
                        <a:buClr>
                          <a:schemeClr val="dk1"/>
                        </a:buClr>
                        <a:buSzPts val="1400"/>
                        <a:buFont typeface="Calibri"/>
                        <a:buNone/>
                      </a:pPr>
                      <a:r>
                        <a:rPr b="1" lang="en-US" sz="1400" u="none" cap="none" strike="noStrike">
                          <a:solidFill>
                            <a:schemeClr val="dk1"/>
                          </a:solidFill>
                        </a:rPr>
                        <a:t>DELETE</a:t>
                      </a:r>
                      <a:endParaRPr sz="1400" u="none" cap="none" strike="noStrike"/>
                    </a:p>
                  </a:txBody>
                  <a:tcPr marT="0" marB="0" marR="91450" marL="91450" anchor="ctr">
                    <a:lnL cap="flat" cmpd="sng" w="9525">
                      <a:solidFill>
                        <a:srgbClr val="D3DCDF"/>
                      </a:solidFill>
                      <a:prstDash val="solid"/>
                      <a:round/>
                      <a:headEnd len="sm" w="sm" type="none"/>
                      <a:tailEnd len="sm" w="sm" type="none"/>
                    </a:lnL>
                    <a:lnR cap="flat" cmpd="sng" w="9525">
                      <a:solidFill>
                        <a:srgbClr val="D3DCDF"/>
                      </a:solidFill>
                      <a:prstDash val="solid"/>
                      <a:round/>
                      <a:headEnd len="sm" w="sm" type="none"/>
                      <a:tailEnd len="sm" w="sm" type="none"/>
                    </a:lnR>
                    <a:lnT cap="flat" cmpd="sng" w="9525">
                      <a:solidFill>
                        <a:srgbClr val="D3DCDF"/>
                      </a:solidFill>
                      <a:prstDash val="solid"/>
                      <a:round/>
                      <a:headEnd len="sm" w="sm" type="none"/>
                      <a:tailEnd len="sm" w="sm" type="none"/>
                    </a:lnT>
                    <a:lnB cap="flat" cmpd="sng" w="9525">
                      <a:solidFill>
                        <a:srgbClr val="D3DCDF"/>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Calibri"/>
                        <a:buNone/>
                      </a:pPr>
                      <a:r>
                        <a:rPr lang="en-US" sz="1400" u="none" cap="none" strike="noStrike">
                          <a:solidFill>
                            <a:schemeClr val="dk1"/>
                          </a:solidFill>
                        </a:rPr>
                        <a:t>/api/tickets/{id}</a:t>
                      </a:r>
                      <a:endParaRPr sz="1400" u="none" cap="none" strike="noStrike"/>
                    </a:p>
                  </a:txBody>
                  <a:tcPr marT="0" marB="0" marR="91450" marL="91450" anchor="ctr">
                    <a:lnL cap="flat" cmpd="sng" w="9525">
                      <a:solidFill>
                        <a:srgbClr val="D3DCDF"/>
                      </a:solidFill>
                      <a:prstDash val="solid"/>
                      <a:round/>
                      <a:headEnd len="sm" w="sm" type="none"/>
                      <a:tailEnd len="sm" w="sm" type="none"/>
                    </a:lnL>
                    <a:lnR cap="flat" cmpd="sng" w="9525">
                      <a:solidFill>
                        <a:srgbClr val="D3DCDF"/>
                      </a:solidFill>
                      <a:prstDash val="solid"/>
                      <a:round/>
                      <a:headEnd len="sm" w="sm" type="none"/>
                      <a:tailEnd len="sm" w="sm" type="none"/>
                    </a:lnR>
                    <a:lnT cap="flat" cmpd="sng" w="9525">
                      <a:solidFill>
                        <a:srgbClr val="D3DCDF"/>
                      </a:solidFill>
                      <a:prstDash val="solid"/>
                      <a:round/>
                      <a:headEnd len="sm" w="sm" type="none"/>
                      <a:tailEnd len="sm" w="sm" type="none"/>
                    </a:lnT>
                    <a:lnB cap="flat" cmpd="sng" w="9525">
                      <a:solidFill>
                        <a:srgbClr val="D3DCDF"/>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Calibri"/>
                        <a:buNone/>
                      </a:pPr>
                      <a:r>
                        <a:rPr lang="en-US" sz="1400" u="none" cap="none" strike="noStrike">
                          <a:solidFill>
                            <a:schemeClr val="dk1"/>
                          </a:solidFill>
                        </a:rPr>
                        <a:t>Delete ticket</a:t>
                      </a:r>
                      <a:endParaRPr sz="1400" u="none" cap="none" strike="noStrike"/>
                    </a:p>
                  </a:txBody>
                  <a:tcPr marT="0" marB="0" marR="91450" marL="91450" anchor="ctr">
                    <a:lnL cap="flat" cmpd="sng" w="9525">
                      <a:solidFill>
                        <a:srgbClr val="D3DCDF"/>
                      </a:solidFill>
                      <a:prstDash val="solid"/>
                      <a:round/>
                      <a:headEnd len="sm" w="sm" type="none"/>
                      <a:tailEnd len="sm" w="sm" type="none"/>
                    </a:lnL>
                    <a:lnR cap="flat" cmpd="sng" w="9525">
                      <a:solidFill>
                        <a:srgbClr val="D3DCDF"/>
                      </a:solidFill>
                      <a:prstDash val="solid"/>
                      <a:round/>
                      <a:headEnd len="sm" w="sm" type="none"/>
                      <a:tailEnd len="sm" w="sm" type="none"/>
                    </a:lnR>
                    <a:lnT cap="flat" cmpd="sng" w="9525">
                      <a:solidFill>
                        <a:srgbClr val="D3DCDF"/>
                      </a:solidFill>
                      <a:prstDash val="solid"/>
                      <a:round/>
                      <a:headEnd len="sm" w="sm" type="none"/>
                      <a:tailEnd len="sm" w="sm" type="none"/>
                    </a:lnT>
                    <a:lnB cap="flat" cmpd="sng" w="9525">
                      <a:solidFill>
                        <a:srgbClr val="D3DCDF"/>
                      </a:solidFill>
                      <a:prstDash val="solid"/>
                      <a:round/>
                      <a:headEnd len="sm" w="sm" type="none"/>
                      <a:tailEnd len="sm" w="sm" type="none"/>
                    </a:lnB>
                  </a:tcPr>
                </a:tc>
              </a:tr>
              <a:tr h="457200">
                <a:tc>
                  <a:txBody>
                    <a:bodyPr/>
                    <a:lstStyle/>
                    <a:p>
                      <a:pPr indent="0" lvl="0" marL="0" marR="0" rtl="0" algn="l">
                        <a:spcBef>
                          <a:spcPts val="0"/>
                        </a:spcBef>
                        <a:spcAft>
                          <a:spcPts val="0"/>
                        </a:spcAft>
                        <a:buClr>
                          <a:schemeClr val="dk1"/>
                        </a:buClr>
                        <a:buSzPts val="1400"/>
                        <a:buFont typeface="Calibri"/>
                        <a:buNone/>
                      </a:pPr>
                      <a:r>
                        <a:rPr b="1" lang="en-US" sz="1400" u="none" cap="none" strike="noStrike">
                          <a:solidFill>
                            <a:schemeClr val="dk1"/>
                          </a:solidFill>
                        </a:rPr>
                        <a:t>GET</a:t>
                      </a:r>
                      <a:endParaRPr sz="1400" u="none" cap="none" strike="noStrike"/>
                    </a:p>
                  </a:txBody>
                  <a:tcPr marT="0" marB="0" marR="91450" marL="91450" anchor="ctr">
                    <a:lnL cap="flat" cmpd="sng" w="9525">
                      <a:solidFill>
                        <a:srgbClr val="D3DCDF"/>
                      </a:solidFill>
                      <a:prstDash val="solid"/>
                      <a:round/>
                      <a:headEnd len="sm" w="sm" type="none"/>
                      <a:tailEnd len="sm" w="sm" type="none"/>
                    </a:lnL>
                    <a:lnR cap="flat" cmpd="sng" w="9525">
                      <a:solidFill>
                        <a:srgbClr val="D3DCDF"/>
                      </a:solidFill>
                      <a:prstDash val="solid"/>
                      <a:round/>
                      <a:headEnd len="sm" w="sm" type="none"/>
                      <a:tailEnd len="sm" w="sm" type="none"/>
                    </a:lnR>
                    <a:lnT cap="flat" cmpd="sng" w="9525">
                      <a:solidFill>
                        <a:srgbClr val="D3DCDF"/>
                      </a:solidFill>
                      <a:prstDash val="solid"/>
                      <a:round/>
                      <a:headEnd len="sm" w="sm" type="none"/>
                      <a:tailEnd len="sm" w="sm" type="none"/>
                    </a:lnT>
                    <a:lnB cap="flat" cmpd="sng" w="9525">
                      <a:solidFill>
                        <a:srgbClr val="D3DCDF"/>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Calibri"/>
                        <a:buNone/>
                      </a:pPr>
                      <a:r>
                        <a:rPr lang="en-US" sz="1400" u="none" cap="none" strike="noStrike">
                          <a:solidFill>
                            <a:schemeClr val="dk1"/>
                          </a:solidFill>
                        </a:rPr>
                        <a:t>/api/tickets/{id}/comments</a:t>
                      </a:r>
                      <a:endParaRPr sz="1400" u="none" cap="none" strike="noStrike"/>
                    </a:p>
                  </a:txBody>
                  <a:tcPr marT="0" marB="0" marR="91450" marL="91450" anchor="ctr">
                    <a:lnL cap="flat" cmpd="sng" w="9525">
                      <a:solidFill>
                        <a:srgbClr val="D3DCDF"/>
                      </a:solidFill>
                      <a:prstDash val="solid"/>
                      <a:round/>
                      <a:headEnd len="sm" w="sm" type="none"/>
                      <a:tailEnd len="sm" w="sm" type="none"/>
                    </a:lnL>
                    <a:lnR cap="flat" cmpd="sng" w="9525">
                      <a:solidFill>
                        <a:srgbClr val="D3DCDF"/>
                      </a:solidFill>
                      <a:prstDash val="solid"/>
                      <a:round/>
                      <a:headEnd len="sm" w="sm" type="none"/>
                      <a:tailEnd len="sm" w="sm" type="none"/>
                    </a:lnR>
                    <a:lnT cap="flat" cmpd="sng" w="9525">
                      <a:solidFill>
                        <a:srgbClr val="D3DCDF"/>
                      </a:solidFill>
                      <a:prstDash val="solid"/>
                      <a:round/>
                      <a:headEnd len="sm" w="sm" type="none"/>
                      <a:tailEnd len="sm" w="sm" type="none"/>
                    </a:lnT>
                    <a:lnB cap="flat" cmpd="sng" w="9525">
                      <a:solidFill>
                        <a:srgbClr val="D3DCDF"/>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Calibri"/>
                        <a:buNone/>
                      </a:pPr>
                      <a:r>
                        <a:rPr lang="en-US" sz="1400" u="none" cap="none" strike="noStrike">
                          <a:solidFill>
                            <a:schemeClr val="dk1"/>
                          </a:solidFill>
                        </a:rPr>
                        <a:t>List comments</a:t>
                      </a:r>
                      <a:endParaRPr sz="1400" u="none" cap="none" strike="noStrike"/>
                    </a:p>
                  </a:txBody>
                  <a:tcPr marT="0" marB="0" marR="91450" marL="91450" anchor="ctr">
                    <a:lnL cap="flat" cmpd="sng" w="9525">
                      <a:solidFill>
                        <a:srgbClr val="D3DCDF"/>
                      </a:solidFill>
                      <a:prstDash val="solid"/>
                      <a:round/>
                      <a:headEnd len="sm" w="sm" type="none"/>
                      <a:tailEnd len="sm" w="sm" type="none"/>
                    </a:lnL>
                    <a:lnR cap="flat" cmpd="sng" w="9525">
                      <a:solidFill>
                        <a:srgbClr val="D3DCDF"/>
                      </a:solidFill>
                      <a:prstDash val="solid"/>
                      <a:round/>
                      <a:headEnd len="sm" w="sm" type="none"/>
                      <a:tailEnd len="sm" w="sm" type="none"/>
                    </a:lnR>
                    <a:lnT cap="flat" cmpd="sng" w="9525">
                      <a:solidFill>
                        <a:srgbClr val="D3DCDF"/>
                      </a:solidFill>
                      <a:prstDash val="solid"/>
                      <a:round/>
                      <a:headEnd len="sm" w="sm" type="none"/>
                      <a:tailEnd len="sm" w="sm" type="none"/>
                    </a:lnT>
                    <a:lnB cap="flat" cmpd="sng" w="9525">
                      <a:solidFill>
                        <a:srgbClr val="D3DCDF"/>
                      </a:solidFill>
                      <a:prstDash val="solid"/>
                      <a:round/>
                      <a:headEnd len="sm" w="sm" type="none"/>
                      <a:tailEnd len="sm" w="sm" type="none"/>
                    </a:lnB>
                  </a:tcPr>
                </a:tc>
              </a:tr>
              <a:tr h="457200">
                <a:tc>
                  <a:txBody>
                    <a:bodyPr/>
                    <a:lstStyle/>
                    <a:p>
                      <a:pPr indent="0" lvl="0" marL="0" marR="0" rtl="0" algn="l">
                        <a:spcBef>
                          <a:spcPts val="0"/>
                        </a:spcBef>
                        <a:spcAft>
                          <a:spcPts val="0"/>
                        </a:spcAft>
                        <a:buClr>
                          <a:schemeClr val="dk1"/>
                        </a:buClr>
                        <a:buSzPts val="1400"/>
                        <a:buFont typeface="Calibri"/>
                        <a:buNone/>
                      </a:pPr>
                      <a:r>
                        <a:rPr b="1" lang="en-US" sz="1400" u="none" cap="none" strike="noStrike">
                          <a:solidFill>
                            <a:schemeClr val="dk1"/>
                          </a:solidFill>
                        </a:rPr>
                        <a:t>POST</a:t>
                      </a:r>
                      <a:endParaRPr sz="1400" u="none" cap="none" strike="noStrike"/>
                    </a:p>
                  </a:txBody>
                  <a:tcPr marT="0" marB="0" marR="91450" marL="91450" anchor="ctr">
                    <a:lnL cap="flat" cmpd="sng" w="9525">
                      <a:solidFill>
                        <a:srgbClr val="D3DCDF"/>
                      </a:solidFill>
                      <a:prstDash val="solid"/>
                      <a:round/>
                      <a:headEnd len="sm" w="sm" type="none"/>
                      <a:tailEnd len="sm" w="sm" type="none"/>
                    </a:lnL>
                    <a:lnR cap="flat" cmpd="sng" w="9525">
                      <a:solidFill>
                        <a:srgbClr val="D3DCDF"/>
                      </a:solidFill>
                      <a:prstDash val="solid"/>
                      <a:round/>
                      <a:headEnd len="sm" w="sm" type="none"/>
                      <a:tailEnd len="sm" w="sm" type="none"/>
                    </a:lnR>
                    <a:lnT cap="flat" cmpd="sng" w="9525">
                      <a:solidFill>
                        <a:srgbClr val="D3DCDF"/>
                      </a:solidFill>
                      <a:prstDash val="solid"/>
                      <a:round/>
                      <a:headEnd len="sm" w="sm" type="none"/>
                      <a:tailEnd len="sm" w="sm" type="none"/>
                    </a:lnT>
                    <a:lnB cap="flat" cmpd="sng" w="9525">
                      <a:solidFill>
                        <a:srgbClr val="D3DCDF"/>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Calibri"/>
                        <a:buNone/>
                      </a:pPr>
                      <a:r>
                        <a:rPr lang="en-US" sz="1400" u="none" cap="none" strike="noStrike">
                          <a:solidFill>
                            <a:schemeClr val="dk1"/>
                          </a:solidFill>
                        </a:rPr>
                        <a:t>/api/tickets/{id}/comments</a:t>
                      </a:r>
                      <a:endParaRPr sz="1400" u="none" cap="none" strike="noStrike"/>
                    </a:p>
                  </a:txBody>
                  <a:tcPr marT="0" marB="0" marR="91450" marL="91450" anchor="ctr">
                    <a:lnL cap="flat" cmpd="sng" w="9525">
                      <a:solidFill>
                        <a:srgbClr val="D3DCDF"/>
                      </a:solidFill>
                      <a:prstDash val="solid"/>
                      <a:round/>
                      <a:headEnd len="sm" w="sm" type="none"/>
                      <a:tailEnd len="sm" w="sm" type="none"/>
                    </a:lnL>
                    <a:lnR cap="flat" cmpd="sng" w="9525">
                      <a:solidFill>
                        <a:srgbClr val="D3DCDF"/>
                      </a:solidFill>
                      <a:prstDash val="solid"/>
                      <a:round/>
                      <a:headEnd len="sm" w="sm" type="none"/>
                      <a:tailEnd len="sm" w="sm" type="none"/>
                    </a:lnR>
                    <a:lnT cap="flat" cmpd="sng" w="9525">
                      <a:solidFill>
                        <a:srgbClr val="D3DCDF"/>
                      </a:solidFill>
                      <a:prstDash val="solid"/>
                      <a:round/>
                      <a:headEnd len="sm" w="sm" type="none"/>
                      <a:tailEnd len="sm" w="sm" type="none"/>
                    </a:lnT>
                    <a:lnB cap="flat" cmpd="sng" w="9525">
                      <a:solidFill>
                        <a:srgbClr val="D3DCDF"/>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400"/>
                        <a:buFont typeface="Calibri"/>
                        <a:buNone/>
                      </a:pPr>
                      <a:r>
                        <a:rPr lang="en-US" sz="1400" u="none" cap="none" strike="noStrike">
                          <a:solidFill>
                            <a:schemeClr val="dk1"/>
                          </a:solidFill>
                        </a:rPr>
                        <a:t>Add comment</a:t>
                      </a:r>
                      <a:endParaRPr sz="1400" u="none" cap="none" strike="noStrike"/>
                    </a:p>
                  </a:txBody>
                  <a:tcPr marT="0" marB="0" marR="91450" marL="91450" anchor="ctr">
                    <a:lnL cap="flat" cmpd="sng" w="9525">
                      <a:solidFill>
                        <a:srgbClr val="D3DCDF"/>
                      </a:solidFill>
                      <a:prstDash val="solid"/>
                      <a:round/>
                      <a:headEnd len="sm" w="sm" type="none"/>
                      <a:tailEnd len="sm" w="sm" type="none"/>
                    </a:lnL>
                    <a:lnR cap="flat" cmpd="sng" w="9525">
                      <a:solidFill>
                        <a:srgbClr val="D3DCDF"/>
                      </a:solidFill>
                      <a:prstDash val="solid"/>
                      <a:round/>
                      <a:headEnd len="sm" w="sm" type="none"/>
                      <a:tailEnd len="sm" w="sm" type="none"/>
                    </a:lnR>
                    <a:lnT cap="flat" cmpd="sng" w="9525">
                      <a:solidFill>
                        <a:srgbClr val="D3DCDF"/>
                      </a:solidFill>
                      <a:prstDash val="solid"/>
                      <a:round/>
                      <a:headEnd len="sm" w="sm" type="none"/>
                      <a:tailEnd len="sm" w="sm" type="none"/>
                    </a:lnT>
                    <a:lnB cap="flat" cmpd="sng" w="9525">
                      <a:solidFill>
                        <a:srgbClr val="D3DCDF"/>
                      </a:solidFill>
                      <a:prstDash val="solid"/>
                      <a:round/>
                      <a:headEnd len="sm" w="sm" type="none"/>
                      <a:tailEnd len="sm" w="sm" type="none"/>
                    </a:lnB>
                  </a:tcPr>
                </a:tc>
              </a:tr>
            </a:tbl>
          </a:graphicData>
        </a:graphic>
      </p:graphicFrame>
      <p:sp>
        <p:nvSpPr>
          <p:cNvPr id="127" name="Google Shape;127;p8"/>
          <p:cNvSpPr txBox="1"/>
          <p:nvPr/>
        </p:nvSpPr>
        <p:spPr>
          <a:xfrm>
            <a:off x="6035040" y="5806440"/>
            <a:ext cx="55778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Plus /health, /ready and /metrics for Kubernetes and Prometheus.</a:t>
            </a:r>
            <a:endParaRPr b="0" i="0" sz="1400" u="none" cap="none" strike="noStrike">
              <a:solidFill>
                <a:schemeClr val="dk1"/>
              </a:solidFill>
              <a:latin typeface="Calibri"/>
              <a:ea typeface="Calibri"/>
              <a:cs typeface="Calibri"/>
              <a:sym typeface="Calibri"/>
            </a:endParaRPr>
          </a:p>
        </p:txBody>
      </p:sp>
      <p:sp>
        <p:nvSpPr>
          <p:cNvPr id="128" name="Google Shape;128;p8"/>
          <p:cNvSpPr txBox="1"/>
          <p:nvPr>
            <p:ph idx="4294967295" type="sldNum"/>
          </p:nvPr>
        </p:nvSpPr>
        <p:spPr>
          <a:xfrm>
            <a:off x="1115568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accent6"/>
                </a:solidFill>
                <a:latin typeface="Calibri"/>
                <a:ea typeface="Calibri"/>
                <a:cs typeface="Calibri"/>
                <a:sym typeface="Calibri"/>
              </a:rPr>
              <a:t>‹#›</a:t>
            </a:fld>
            <a:endParaRPr b="0" i="0" sz="1100" u="none" cap="none" strike="noStrike">
              <a:solidFill>
                <a:schemeClr val="accent6"/>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9"/>
          <p:cNvSpPr txBox="1"/>
          <p:nvPr>
            <p:ph type="title"/>
          </p:nvPr>
        </p:nvSpPr>
        <p:spPr>
          <a:xfrm>
            <a:off x="548640" y="36576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600"/>
              <a:buFont typeface="Cambria"/>
              <a:buNone/>
            </a:pPr>
            <a:r>
              <a:rPr b="1" lang="en-US" sz="3600">
                <a:solidFill>
                  <a:schemeClr val="dk1"/>
                </a:solidFill>
              </a:rPr>
              <a:t>Tests are the first gate</a:t>
            </a:r>
            <a:endParaRPr sz="3600"/>
          </a:p>
        </p:txBody>
      </p:sp>
      <p:sp>
        <p:nvSpPr>
          <p:cNvPr id="135" name="Google Shape;135;p9"/>
          <p:cNvSpPr/>
          <p:nvPr/>
        </p:nvSpPr>
        <p:spPr>
          <a:xfrm>
            <a:off x="548640" y="1554480"/>
            <a:ext cx="3474720" cy="2103120"/>
          </a:xfrm>
          <a:prstGeom prst="roundRect">
            <a:avLst>
              <a:gd fmla="val 5217"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9"/>
          <p:cNvSpPr txBox="1"/>
          <p:nvPr/>
        </p:nvSpPr>
        <p:spPr>
          <a:xfrm>
            <a:off x="548640" y="1691640"/>
            <a:ext cx="3474720" cy="11887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1"/>
              </a:buClr>
              <a:buSzPts val="8000"/>
              <a:buFont typeface="Calibri"/>
              <a:buNone/>
            </a:pPr>
            <a:r>
              <a:rPr b="1" i="0" lang="en-US" sz="8000" u="none" cap="none" strike="noStrike">
                <a:solidFill>
                  <a:schemeClr val="accent1"/>
                </a:solidFill>
                <a:latin typeface="Calibri"/>
                <a:ea typeface="Calibri"/>
                <a:cs typeface="Calibri"/>
                <a:sym typeface="Calibri"/>
              </a:rPr>
              <a:t>25</a:t>
            </a:r>
            <a:endParaRPr b="0" i="0" sz="8000" u="none" cap="none" strike="noStrike">
              <a:solidFill>
                <a:schemeClr val="dk1"/>
              </a:solidFill>
              <a:latin typeface="Calibri"/>
              <a:ea typeface="Calibri"/>
              <a:cs typeface="Calibri"/>
              <a:sym typeface="Calibri"/>
            </a:endParaRPr>
          </a:p>
        </p:txBody>
      </p:sp>
      <p:sp>
        <p:nvSpPr>
          <p:cNvPr id="137" name="Google Shape;137;p9"/>
          <p:cNvSpPr txBox="1"/>
          <p:nvPr/>
        </p:nvSpPr>
        <p:spPr>
          <a:xfrm>
            <a:off x="731520" y="2926080"/>
            <a:ext cx="3108960"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600"/>
              <a:buFont typeface="Calibri"/>
              <a:buNone/>
            </a:pPr>
            <a:r>
              <a:rPr b="0" i="0" lang="en-US" sz="1600" u="none" cap="none" strike="noStrike">
                <a:solidFill>
                  <a:schemeClr val="dk2"/>
                </a:solidFill>
                <a:latin typeface="Calibri"/>
                <a:ea typeface="Calibri"/>
                <a:cs typeface="Calibri"/>
                <a:sym typeface="Calibri"/>
              </a:rPr>
              <a:t>automated pytest tests</a:t>
            </a:r>
            <a:endParaRPr b="0" i="0" sz="1600" u="none" cap="none" strike="noStrike">
              <a:solidFill>
                <a:schemeClr val="dk1"/>
              </a:solidFill>
              <a:latin typeface="Calibri"/>
              <a:ea typeface="Calibri"/>
              <a:cs typeface="Calibri"/>
              <a:sym typeface="Calibri"/>
            </a:endParaRPr>
          </a:p>
        </p:txBody>
      </p:sp>
      <p:sp>
        <p:nvSpPr>
          <p:cNvPr id="138" name="Google Shape;138;p9"/>
          <p:cNvSpPr/>
          <p:nvPr/>
        </p:nvSpPr>
        <p:spPr>
          <a:xfrm>
            <a:off x="4297680" y="1554480"/>
            <a:ext cx="3474720" cy="2103120"/>
          </a:xfrm>
          <a:prstGeom prst="roundRect">
            <a:avLst>
              <a:gd fmla="val 5217"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9"/>
          <p:cNvSpPr txBox="1"/>
          <p:nvPr/>
        </p:nvSpPr>
        <p:spPr>
          <a:xfrm>
            <a:off x="4297680" y="1691640"/>
            <a:ext cx="3474720" cy="11887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1"/>
              </a:buClr>
              <a:buSzPts val="8000"/>
              <a:buFont typeface="Calibri"/>
              <a:buNone/>
            </a:pPr>
            <a:r>
              <a:rPr b="1" i="0" lang="en-US" sz="8000" u="none" cap="none" strike="noStrike">
                <a:solidFill>
                  <a:schemeClr val="accent1"/>
                </a:solidFill>
                <a:latin typeface="Calibri"/>
                <a:ea typeface="Calibri"/>
                <a:cs typeface="Calibri"/>
                <a:sym typeface="Calibri"/>
              </a:rPr>
              <a:t>8</a:t>
            </a:r>
            <a:endParaRPr b="0" i="0" sz="8000" u="none" cap="none" strike="noStrike">
              <a:solidFill>
                <a:schemeClr val="dk1"/>
              </a:solidFill>
              <a:latin typeface="Calibri"/>
              <a:ea typeface="Calibri"/>
              <a:cs typeface="Calibri"/>
              <a:sym typeface="Calibri"/>
            </a:endParaRPr>
          </a:p>
        </p:txBody>
      </p:sp>
      <p:sp>
        <p:nvSpPr>
          <p:cNvPr id="140" name="Google Shape;140;p9"/>
          <p:cNvSpPr txBox="1"/>
          <p:nvPr/>
        </p:nvSpPr>
        <p:spPr>
          <a:xfrm>
            <a:off x="4480560" y="2926080"/>
            <a:ext cx="3108960"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600"/>
              <a:buFont typeface="Calibri"/>
              <a:buNone/>
            </a:pPr>
            <a:r>
              <a:rPr b="0" i="0" lang="en-US" sz="1600" u="none" cap="none" strike="noStrike">
                <a:solidFill>
                  <a:schemeClr val="dk2"/>
                </a:solidFill>
                <a:latin typeface="Calibri"/>
                <a:ea typeface="Calibri"/>
                <a:cs typeface="Calibri"/>
                <a:sym typeface="Calibri"/>
              </a:rPr>
              <a:t>endpoints covered, incl. error cases</a:t>
            </a:r>
            <a:endParaRPr b="0" i="0" sz="1600" u="none" cap="none" strike="noStrike">
              <a:solidFill>
                <a:schemeClr val="dk1"/>
              </a:solidFill>
              <a:latin typeface="Calibri"/>
              <a:ea typeface="Calibri"/>
              <a:cs typeface="Calibri"/>
              <a:sym typeface="Calibri"/>
            </a:endParaRPr>
          </a:p>
        </p:txBody>
      </p:sp>
      <p:sp>
        <p:nvSpPr>
          <p:cNvPr id="141" name="Google Shape;141;p9"/>
          <p:cNvSpPr/>
          <p:nvPr/>
        </p:nvSpPr>
        <p:spPr>
          <a:xfrm>
            <a:off x="8046720" y="1554480"/>
            <a:ext cx="3474720" cy="2103120"/>
          </a:xfrm>
          <a:prstGeom prst="roundRect">
            <a:avLst>
              <a:gd fmla="val 5217"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9"/>
          <p:cNvSpPr txBox="1"/>
          <p:nvPr/>
        </p:nvSpPr>
        <p:spPr>
          <a:xfrm>
            <a:off x="8046720" y="1691640"/>
            <a:ext cx="3474720" cy="11887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1"/>
              </a:buClr>
              <a:buSzPts val="8000"/>
              <a:buFont typeface="Calibri"/>
              <a:buNone/>
            </a:pPr>
            <a:r>
              <a:rPr b="1" i="0" lang="en-US" sz="8000" u="none" cap="none" strike="noStrike">
                <a:solidFill>
                  <a:schemeClr val="accent1"/>
                </a:solidFill>
                <a:latin typeface="Calibri"/>
                <a:ea typeface="Calibri"/>
                <a:cs typeface="Calibri"/>
                <a:sym typeface="Calibri"/>
              </a:rPr>
              <a:t>0</a:t>
            </a:r>
            <a:endParaRPr b="0" i="0" sz="8000" u="none" cap="none" strike="noStrike">
              <a:solidFill>
                <a:schemeClr val="dk1"/>
              </a:solidFill>
              <a:latin typeface="Calibri"/>
              <a:ea typeface="Calibri"/>
              <a:cs typeface="Calibri"/>
              <a:sym typeface="Calibri"/>
            </a:endParaRPr>
          </a:p>
        </p:txBody>
      </p:sp>
      <p:sp>
        <p:nvSpPr>
          <p:cNvPr id="143" name="Google Shape;143;p9"/>
          <p:cNvSpPr txBox="1"/>
          <p:nvPr/>
        </p:nvSpPr>
        <p:spPr>
          <a:xfrm>
            <a:off x="8229600" y="2926080"/>
            <a:ext cx="3108960"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600"/>
              <a:buFont typeface="Calibri"/>
              <a:buNone/>
            </a:pPr>
            <a:r>
              <a:rPr b="0" i="0" lang="en-US" sz="1600" u="none" cap="none" strike="noStrike">
                <a:solidFill>
                  <a:schemeClr val="dk2"/>
                </a:solidFill>
                <a:latin typeface="Calibri"/>
                <a:ea typeface="Calibri"/>
                <a:cs typeface="Calibri"/>
                <a:sym typeface="Calibri"/>
              </a:rPr>
              <a:t>real databases touched</a:t>
            </a:r>
            <a:endParaRPr b="0" i="0" sz="1600" u="none" cap="none" strike="noStrike">
              <a:solidFill>
                <a:schemeClr val="dk1"/>
              </a:solidFill>
              <a:latin typeface="Calibri"/>
              <a:ea typeface="Calibri"/>
              <a:cs typeface="Calibri"/>
              <a:sym typeface="Calibri"/>
            </a:endParaRPr>
          </a:p>
        </p:txBody>
      </p:sp>
      <p:sp>
        <p:nvSpPr>
          <p:cNvPr id="144" name="Google Shape;144;p9"/>
          <p:cNvSpPr txBox="1"/>
          <p:nvPr/>
        </p:nvSpPr>
        <p:spPr>
          <a:xfrm>
            <a:off x="548640" y="3977640"/>
            <a:ext cx="11064240" cy="20116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Tests run against an in-memory SQLite database, so they are fast and can never damage real data</a:t>
            </a:r>
            <a:endParaRPr b="0" i="0" sz="16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They check rules, not just success: bad input returns 422, a closed ticket returns 409, a missing ticket returns 404</a:t>
            </a:r>
            <a:endParaRPr b="0" i="0" sz="16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ruff lint runs in the same CI job; a red test fails the pipeline before any image is built</a:t>
            </a:r>
            <a:endParaRPr b="0" i="0" sz="1600" u="none" cap="none" strike="noStrike">
              <a:solidFill>
                <a:schemeClr val="dk1"/>
              </a:solidFill>
              <a:latin typeface="Calibri"/>
              <a:ea typeface="Calibri"/>
              <a:cs typeface="Calibri"/>
              <a:sym typeface="Calibri"/>
            </a:endParaRPr>
          </a:p>
        </p:txBody>
      </p:sp>
      <p:sp>
        <p:nvSpPr>
          <p:cNvPr id="145" name="Google Shape;145;p9"/>
          <p:cNvSpPr txBox="1"/>
          <p:nvPr>
            <p:ph idx="4294967295" type="sldNum"/>
          </p:nvPr>
        </p:nvSpPr>
        <p:spPr>
          <a:xfrm>
            <a:off x="1115568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accent6"/>
                </a:solidFill>
                <a:latin typeface="Calibri"/>
                <a:ea typeface="Calibri"/>
                <a:cs typeface="Calibri"/>
                <a:sym typeface="Calibri"/>
              </a:rPr>
              <a:t>‹#›</a:t>
            </a:fld>
            <a:endParaRPr b="0" i="0" sz="1100" u="none" cap="none" strike="noStrike">
              <a:solidFill>
                <a:schemeClr val="accent6"/>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0"/>
          <p:cNvSpPr txBox="1"/>
          <p:nvPr>
            <p:ph type="title"/>
          </p:nvPr>
        </p:nvSpPr>
        <p:spPr>
          <a:xfrm>
            <a:off x="548640" y="36576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600"/>
              <a:buFont typeface="Cambria"/>
              <a:buNone/>
            </a:pPr>
            <a:r>
              <a:rPr b="1" lang="en-US" sz="3600">
                <a:solidFill>
                  <a:schemeClr val="dk1"/>
                </a:solidFill>
              </a:rPr>
              <a:t>Docker: small, non-root, one command</a:t>
            </a:r>
            <a:endParaRPr sz="3600"/>
          </a:p>
        </p:txBody>
      </p:sp>
      <p:sp>
        <p:nvSpPr>
          <p:cNvPr id="152" name="Google Shape;152;p10"/>
          <p:cNvSpPr/>
          <p:nvPr/>
        </p:nvSpPr>
        <p:spPr>
          <a:xfrm>
            <a:off x="548640" y="1554480"/>
            <a:ext cx="5394960" cy="2148840"/>
          </a:xfrm>
          <a:prstGeom prst="roundRect">
            <a:avLst>
              <a:gd fmla="val 5106"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0"/>
          <p:cNvSpPr/>
          <p:nvPr/>
        </p:nvSpPr>
        <p:spPr>
          <a:xfrm>
            <a:off x="777240" y="1783080"/>
            <a:ext cx="640080" cy="640080"/>
          </a:xfrm>
          <a:prstGeom prst="ellipse">
            <a:avLst/>
          </a:prstGeom>
          <a:solidFill>
            <a:schemeClr val="accent4"/>
          </a:solidFill>
          <a:ln cap="flat" cmpd="sng" w="127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4" name="Google Shape;154;p10"/>
          <p:cNvPicPr preferRelativeResize="0"/>
          <p:nvPr/>
        </p:nvPicPr>
        <p:blipFill rotWithShape="1">
          <a:blip r:embed="rId3">
            <a:alphaModFix/>
          </a:blip>
          <a:srcRect b="0" l="0" r="0" t="0"/>
          <a:stretch/>
        </p:blipFill>
        <p:spPr>
          <a:xfrm>
            <a:off x="937260" y="1943100"/>
            <a:ext cx="320040" cy="320040"/>
          </a:xfrm>
          <a:prstGeom prst="rect">
            <a:avLst/>
          </a:prstGeom>
          <a:noFill/>
          <a:ln>
            <a:noFill/>
          </a:ln>
        </p:spPr>
      </p:pic>
      <p:sp>
        <p:nvSpPr>
          <p:cNvPr id="155" name="Google Shape;155;p10"/>
          <p:cNvSpPr txBox="1"/>
          <p:nvPr/>
        </p:nvSpPr>
        <p:spPr>
          <a:xfrm>
            <a:off x="1600200" y="1874520"/>
            <a:ext cx="4114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Backend image</a:t>
            </a:r>
            <a:endParaRPr b="0" i="0" sz="2000" u="none" cap="none" strike="noStrike">
              <a:solidFill>
                <a:schemeClr val="dk1"/>
              </a:solidFill>
              <a:latin typeface="Calibri"/>
              <a:ea typeface="Calibri"/>
              <a:cs typeface="Calibri"/>
              <a:sym typeface="Calibri"/>
            </a:endParaRPr>
          </a:p>
        </p:txBody>
      </p:sp>
      <p:sp>
        <p:nvSpPr>
          <p:cNvPr id="156" name="Google Shape;156;p10"/>
          <p:cNvSpPr txBox="1"/>
          <p:nvPr/>
        </p:nvSpPr>
        <p:spPr>
          <a:xfrm>
            <a:off x="822960" y="2606040"/>
            <a:ext cx="4937760" cy="10058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400"/>
              <a:buFont typeface="Calibri"/>
              <a:buChar char="•"/>
            </a:pPr>
            <a:r>
              <a:rPr b="0" i="0" lang="en-US" sz="1400" u="none" cap="none" strike="noStrike">
                <a:solidFill>
                  <a:schemeClr val="dk1"/>
                </a:solidFill>
                <a:latin typeface="Calibri"/>
                <a:ea typeface="Calibri"/>
                <a:cs typeface="Calibri"/>
                <a:sym typeface="Calibri"/>
              </a:rPr>
              <a:t>python:3.12-slim, dependencies cached in their own layer</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400"/>
              <a:buFont typeface="Calibri"/>
              <a:buChar char="•"/>
            </a:pPr>
            <a:r>
              <a:rPr b="0" i="0" lang="en-US" sz="1400" u="none" cap="none" strike="noStrike">
                <a:solidFill>
                  <a:schemeClr val="dk1"/>
                </a:solidFill>
                <a:latin typeface="Calibri"/>
                <a:ea typeface="Calibri"/>
                <a:cs typeface="Calibri"/>
                <a:sym typeface="Calibri"/>
              </a:rPr>
              <a:t>Runs as uid 10001, never root</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400"/>
              <a:buFont typeface="Calibri"/>
              <a:buChar char="•"/>
            </a:pPr>
            <a:r>
              <a:rPr b="0" i="0" lang="en-US" sz="1400" u="none" cap="none" strike="noStrike">
                <a:solidFill>
                  <a:schemeClr val="dk1"/>
                </a:solidFill>
                <a:latin typeface="Calibri"/>
                <a:ea typeface="Calibri"/>
                <a:cs typeface="Calibri"/>
                <a:sym typeface="Calibri"/>
              </a:rPr>
              <a:t>Built-in HEALTHCHECK on /health</a:t>
            </a:r>
            <a:endParaRPr b="0" i="0" sz="1400" u="none" cap="none" strike="noStrike">
              <a:solidFill>
                <a:schemeClr val="dk1"/>
              </a:solidFill>
              <a:latin typeface="Calibri"/>
              <a:ea typeface="Calibri"/>
              <a:cs typeface="Calibri"/>
              <a:sym typeface="Calibri"/>
            </a:endParaRPr>
          </a:p>
        </p:txBody>
      </p:sp>
      <p:sp>
        <p:nvSpPr>
          <p:cNvPr id="157" name="Google Shape;157;p10"/>
          <p:cNvSpPr/>
          <p:nvPr/>
        </p:nvSpPr>
        <p:spPr>
          <a:xfrm>
            <a:off x="6217920" y="1554480"/>
            <a:ext cx="5394960" cy="2148840"/>
          </a:xfrm>
          <a:prstGeom prst="roundRect">
            <a:avLst>
              <a:gd fmla="val 5106"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0"/>
          <p:cNvSpPr/>
          <p:nvPr/>
        </p:nvSpPr>
        <p:spPr>
          <a:xfrm>
            <a:off x="6446520" y="1783080"/>
            <a:ext cx="640080" cy="640080"/>
          </a:xfrm>
          <a:prstGeom prst="ellipse">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9" name="Google Shape;159;p10"/>
          <p:cNvPicPr preferRelativeResize="0"/>
          <p:nvPr/>
        </p:nvPicPr>
        <p:blipFill rotWithShape="1">
          <a:blip r:embed="rId4">
            <a:alphaModFix/>
          </a:blip>
          <a:srcRect b="0" l="0" r="0" t="0"/>
          <a:stretch/>
        </p:blipFill>
        <p:spPr>
          <a:xfrm>
            <a:off x="6606540" y="1943100"/>
            <a:ext cx="320040" cy="320040"/>
          </a:xfrm>
          <a:prstGeom prst="rect">
            <a:avLst/>
          </a:prstGeom>
          <a:noFill/>
          <a:ln>
            <a:noFill/>
          </a:ln>
        </p:spPr>
      </p:pic>
      <p:sp>
        <p:nvSpPr>
          <p:cNvPr id="160" name="Google Shape;160;p10"/>
          <p:cNvSpPr txBox="1"/>
          <p:nvPr/>
        </p:nvSpPr>
        <p:spPr>
          <a:xfrm>
            <a:off x="7269480" y="1874520"/>
            <a:ext cx="42062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Frontend image (multi-stage)</a:t>
            </a:r>
            <a:endParaRPr b="0" i="0" sz="2000" u="none" cap="none" strike="noStrike">
              <a:solidFill>
                <a:schemeClr val="dk1"/>
              </a:solidFill>
              <a:latin typeface="Calibri"/>
              <a:ea typeface="Calibri"/>
              <a:cs typeface="Calibri"/>
              <a:sym typeface="Calibri"/>
            </a:endParaRPr>
          </a:p>
        </p:txBody>
      </p:sp>
      <p:sp>
        <p:nvSpPr>
          <p:cNvPr id="161" name="Google Shape;161;p10"/>
          <p:cNvSpPr txBox="1"/>
          <p:nvPr/>
        </p:nvSpPr>
        <p:spPr>
          <a:xfrm>
            <a:off x="6492240" y="2606040"/>
            <a:ext cx="4937760" cy="10058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400"/>
              <a:buFont typeface="Calibri"/>
              <a:buChar char="•"/>
            </a:pPr>
            <a:r>
              <a:rPr b="0" i="0" lang="en-US" sz="1400" u="none" cap="none" strike="noStrike">
                <a:solidFill>
                  <a:schemeClr val="dk1"/>
                </a:solidFill>
                <a:latin typeface="Calibri"/>
                <a:ea typeface="Calibri"/>
                <a:cs typeface="Calibri"/>
                <a:sym typeface="Calibri"/>
              </a:rPr>
              <a:t>Stage 1: Node builds the React app</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400"/>
              <a:buFont typeface="Calibri"/>
              <a:buChar char="•"/>
            </a:pPr>
            <a:r>
              <a:rPr b="0" i="0" lang="en-US" sz="1400" u="none" cap="none" strike="noStrike">
                <a:solidFill>
                  <a:schemeClr val="dk1"/>
                </a:solidFill>
                <a:latin typeface="Calibri"/>
                <a:ea typeface="Calibri"/>
                <a:cs typeface="Calibri"/>
                <a:sym typeface="Calibri"/>
              </a:rPr>
              <a:t>Stage 2: only the static files go into nginx</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400"/>
              <a:buFont typeface="Calibri"/>
              <a:buChar char="•"/>
            </a:pPr>
            <a:r>
              <a:rPr b="0" i="0" lang="en-US" sz="1400" u="none" cap="none" strike="noStrike">
                <a:solidFill>
                  <a:schemeClr val="dk1"/>
                </a:solidFill>
                <a:latin typeface="Calibri"/>
                <a:ea typeface="Calibri"/>
                <a:cs typeface="Calibri"/>
                <a:sym typeface="Calibri"/>
              </a:rPr>
              <a:t>Runs as uid 101, no Node in the final image</a:t>
            </a:r>
            <a:endParaRPr b="0" i="0" sz="1400" u="none" cap="none" strike="noStrike">
              <a:solidFill>
                <a:schemeClr val="dk1"/>
              </a:solidFill>
              <a:latin typeface="Calibri"/>
              <a:ea typeface="Calibri"/>
              <a:cs typeface="Calibri"/>
              <a:sym typeface="Calibri"/>
            </a:endParaRPr>
          </a:p>
        </p:txBody>
      </p:sp>
      <p:sp>
        <p:nvSpPr>
          <p:cNvPr id="162" name="Google Shape;162;p10"/>
          <p:cNvSpPr/>
          <p:nvPr/>
        </p:nvSpPr>
        <p:spPr>
          <a:xfrm>
            <a:off x="548640" y="4023360"/>
            <a:ext cx="11064240" cy="1463040"/>
          </a:xfrm>
          <a:prstGeom prst="roundRect">
            <a:avLst>
              <a:gd fmla="val 7500"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0"/>
          <p:cNvSpPr txBox="1"/>
          <p:nvPr/>
        </p:nvSpPr>
        <p:spPr>
          <a:xfrm>
            <a:off x="868680" y="4251960"/>
            <a:ext cx="54864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400"/>
              <a:buFont typeface="Calibri"/>
              <a:buNone/>
            </a:pPr>
            <a:r>
              <a:rPr b="1" i="0" lang="en-US" sz="2400" u="none" cap="none" strike="noStrike">
                <a:solidFill>
                  <a:schemeClr val="accent1"/>
                </a:solidFill>
                <a:latin typeface="Calibri"/>
                <a:ea typeface="Calibri"/>
                <a:cs typeface="Calibri"/>
                <a:sym typeface="Calibri"/>
              </a:rPr>
              <a:t>docker compose up --build</a:t>
            </a:r>
            <a:endParaRPr b="0" i="0" sz="2400" u="none" cap="none" strike="noStrike">
              <a:solidFill>
                <a:schemeClr val="dk1"/>
              </a:solidFill>
              <a:latin typeface="Calibri"/>
              <a:ea typeface="Calibri"/>
              <a:cs typeface="Calibri"/>
              <a:sym typeface="Calibri"/>
            </a:endParaRPr>
          </a:p>
        </p:txBody>
      </p:sp>
      <p:sp>
        <p:nvSpPr>
          <p:cNvPr id="164" name="Google Shape;164;p10"/>
          <p:cNvSpPr txBox="1"/>
          <p:nvPr/>
        </p:nvSpPr>
        <p:spPr>
          <a:xfrm>
            <a:off x="868680" y="4800600"/>
            <a:ext cx="1042416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0" i="0" lang="en-US" sz="1600" u="none" cap="none" strike="noStrike">
                <a:solidFill>
                  <a:schemeClr val="dk2"/>
                </a:solidFill>
                <a:latin typeface="Calibri"/>
                <a:ea typeface="Calibri"/>
                <a:cs typeface="Calibri"/>
                <a:sym typeface="Calibri"/>
              </a:rPr>
              <a:t>starts all three services: frontend on :3000, backend on :8000, PostgreSQL with a health check</a:t>
            </a:r>
            <a:endParaRPr b="0" i="0" sz="1600" u="none" cap="none" strike="noStrike">
              <a:solidFill>
                <a:schemeClr val="dk1"/>
              </a:solidFill>
              <a:latin typeface="Calibri"/>
              <a:ea typeface="Calibri"/>
              <a:cs typeface="Calibri"/>
              <a:sym typeface="Calibri"/>
            </a:endParaRPr>
          </a:p>
        </p:txBody>
      </p:sp>
      <p:sp>
        <p:nvSpPr>
          <p:cNvPr id="165" name="Google Shape;165;p10"/>
          <p:cNvSpPr txBox="1"/>
          <p:nvPr>
            <p:ph idx="4294967295" type="sldNum"/>
          </p:nvPr>
        </p:nvSpPr>
        <p:spPr>
          <a:xfrm>
            <a:off x="1115568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accent6"/>
                </a:solidFill>
                <a:latin typeface="Calibri"/>
                <a:ea typeface="Calibri"/>
                <a:cs typeface="Calibri"/>
                <a:sym typeface="Calibri"/>
              </a:rPr>
              <a:t>‹#›</a:t>
            </a:fld>
            <a:endParaRPr b="0" i="0" sz="1100" u="none" cap="none" strike="noStrike">
              <a:solidFill>
                <a:schemeClr val="accent6"/>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1"/>
          <p:cNvSpPr txBox="1"/>
          <p:nvPr>
            <p:ph type="title"/>
          </p:nvPr>
        </p:nvSpPr>
        <p:spPr>
          <a:xfrm>
            <a:off x="548640" y="36576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600"/>
              <a:buFont typeface="Cambria"/>
              <a:buNone/>
            </a:pPr>
            <a:r>
              <a:rPr b="1" lang="en-US" sz="3600">
                <a:solidFill>
                  <a:schemeClr val="dk1"/>
                </a:solidFill>
              </a:rPr>
              <a:t>CI/CD with GitHub Actions</a:t>
            </a:r>
            <a:endParaRPr sz="3600"/>
          </a:p>
        </p:txBody>
      </p:sp>
      <p:sp>
        <p:nvSpPr>
          <p:cNvPr id="172" name="Google Shape;172;p11"/>
          <p:cNvSpPr/>
          <p:nvPr/>
        </p:nvSpPr>
        <p:spPr>
          <a:xfrm>
            <a:off x="548640" y="1554480"/>
            <a:ext cx="5394960" cy="822960"/>
          </a:xfrm>
          <a:prstGeom prst="roundRect">
            <a:avLst>
              <a:gd fmla="val 13333"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a:off x="731520" y="1709928"/>
            <a:ext cx="512064" cy="512064"/>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1"/>
          <p:cNvSpPr txBox="1"/>
          <p:nvPr/>
        </p:nvSpPr>
        <p:spPr>
          <a:xfrm>
            <a:off x="731520" y="1709928"/>
            <a:ext cx="512064"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i="0" lang="en-US" sz="1800" u="none" cap="none" strike="noStrike">
                <a:solidFill>
                  <a:schemeClr val="lt1"/>
                </a:solidFill>
                <a:latin typeface="Calibri"/>
                <a:ea typeface="Calibri"/>
                <a:cs typeface="Calibri"/>
                <a:sym typeface="Calibri"/>
              </a:rPr>
              <a:t>1</a:t>
            </a:r>
            <a:endParaRPr b="0" i="0" sz="1800" u="none" cap="none" strike="noStrike">
              <a:solidFill>
                <a:schemeClr val="dk1"/>
              </a:solidFill>
              <a:latin typeface="Calibri"/>
              <a:ea typeface="Calibri"/>
              <a:cs typeface="Calibri"/>
              <a:sym typeface="Calibri"/>
            </a:endParaRPr>
          </a:p>
        </p:txBody>
      </p:sp>
      <p:sp>
        <p:nvSpPr>
          <p:cNvPr id="175" name="Google Shape;175;p11"/>
          <p:cNvSpPr txBox="1"/>
          <p:nvPr/>
        </p:nvSpPr>
        <p:spPr>
          <a:xfrm>
            <a:off x="1463040" y="1645920"/>
            <a:ext cx="42976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backend-test</a:t>
            </a:r>
            <a:endParaRPr b="0" i="0" sz="1800" u="none" cap="none" strike="noStrike">
              <a:solidFill>
                <a:schemeClr val="dk1"/>
              </a:solidFill>
              <a:latin typeface="Calibri"/>
              <a:ea typeface="Calibri"/>
              <a:cs typeface="Calibri"/>
              <a:sym typeface="Calibri"/>
            </a:endParaRPr>
          </a:p>
        </p:txBody>
      </p:sp>
      <p:sp>
        <p:nvSpPr>
          <p:cNvPr id="176" name="Google Shape;176;p11"/>
          <p:cNvSpPr txBox="1"/>
          <p:nvPr/>
        </p:nvSpPr>
        <p:spPr>
          <a:xfrm>
            <a:off x="1463040" y="2011680"/>
            <a:ext cx="42976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ruff + pytest</a:t>
            </a:r>
            <a:endParaRPr b="0" i="0" sz="1400" u="none" cap="none" strike="noStrike">
              <a:solidFill>
                <a:schemeClr val="dk1"/>
              </a:solidFill>
              <a:latin typeface="Calibri"/>
              <a:ea typeface="Calibri"/>
              <a:cs typeface="Calibri"/>
              <a:sym typeface="Calibri"/>
            </a:endParaRPr>
          </a:p>
        </p:txBody>
      </p:sp>
      <p:sp>
        <p:nvSpPr>
          <p:cNvPr id="177" name="Google Shape;177;p11"/>
          <p:cNvSpPr/>
          <p:nvPr/>
        </p:nvSpPr>
        <p:spPr>
          <a:xfrm>
            <a:off x="548640" y="2514600"/>
            <a:ext cx="5394960" cy="822960"/>
          </a:xfrm>
          <a:prstGeom prst="roundRect">
            <a:avLst>
              <a:gd fmla="val 13333"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1"/>
          <p:cNvSpPr/>
          <p:nvPr/>
        </p:nvSpPr>
        <p:spPr>
          <a:xfrm>
            <a:off x="731520" y="2670048"/>
            <a:ext cx="512064" cy="512064"/>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1"/>
          <p:cNvSpPr txBox="1"/>
          <p:nvPr/>
        </p:nvSpPr>
        <p:spPr>
          <a:xfrm>
            <a:off x="731520" y="2670048"/>
            <a:ext cx="512064"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i="0" lang="en-US" sz="1800" u="none" cap="none" strike="noStrike">
                <a:solidFill>
                  <a:schemeClr val="lt1"/>
                </a:solidFill>
                <a:latin typeface="Calibri"/>
                <a:ea typeface="Calibri"/>
                <a:cs typeface="Calibri"/>
                <a:sym typeface="Calibri"/>
              </a:rPr>
              <a:t>2</a:t>
            </a:r>
            <a:endParaRPr b="0" i="0" sz="1800" u="none" cap="none" strike="noStrike">
              <a:solidFill>
                <a:schemeClr val="dk1"/>
              </a:solidFill>
              <a:latin typeface="Calibri"/>
              <a:ea typeface="Calibri"/>
              <a:cs typeface="Calibri"/>
              <a:sym typeface="Calibri"/>
            </a:endParaRPr>
          </a:p>
        </p:txBody>
      </p:sp>
      <p:sp>
        <p:nvSpPr>
          <p:cNvPr id="180" name="Google Shape;180;p11"/>
          <p:cNvSpPr txBox="1"/>
          <p:nvPr/>
        </p:nvSpPr>
        <p:spPr>
          <a:xfrm>
            <a:off x="1463040" y="2606040"/>
            <a:ext cx="42976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frontend-build</a:t>
            </a:r>
            <a:endParaRPr b="0" i="0" sz="1800" u="none" cap="none" strike="noStrike">
              <a:solidFill>
                <a:schemeClr val="dk1"/>
              </a:solidFill>
              <a:latin typeface="Calibri"/>
              <a:ea typeface="Calibri"/>
              <a:cs typeface="Calibri"/>
              <a:sym typeface="Calibri"/>
            </a:endParaRPr>
          </a:p>
        </p:txBody>
      </p:sp>
      <p:sp>
        <p:nvSpPr>
          <p:cNvPr id="181" name="Google Shape;181;p11"/>
          <p:cNvSpPr txBox="1"/>
          <p:nvPr/>
        </p:nvSpPr>
        <p:spPr>
          <a:xfrm>
            <a:off x="1463040" y="2971800"/>
            <a:ext cx="42976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npm ci + build</a:t>
            </a:r>
            <a:endParaRPr b="0" i="0" sz="1400" u="none" cap="none" strike="noStrike">
              <a:solidFill>
                <a:schemeClr val="dk1"/>
              </a:solidFill>
              <a:latin typeface="Calibri"/>
              <a:ea typeface="Calibri"/>
              <a:cs typeface="Calibri"/>
              <a:sym typeface="Calibri"/>
            </a:endParaRPr>
          </a:p>
        </p:txBody>
      </p:sp>
      <p:sp>
        <p:nvSpPr>
          <p:cNvPr id="182" name="Google Shape;182;p11"/>
          <p:cNvSpPr/>
          <p:nvPr/>
        </p:nvSpPr>
        <p:spPr>
          <a:xfrm>
            <a:off x="548640" y="3474720"/>
            <a:ext cx="5394960" cy="822960"/>
          </a:xfrm>
          <a:prstGeom prst="roundRect">
            <a:avLst>
              <a:gd fmla="val 13333"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a:off x="731520" y="3630168"/>
            <a:ext cx="512064" cy="512064"/>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1"/>
          <p:cNvSpPr txBox="1"/>
          <p:nvPr/>
        </p:nvSpPr>
        <p:spPr>
          <a:xfrm>
            <a:off x="731520" y="3630168"/>
            <a:ext cx="512064"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i="0" lang="en-US" sz="1800" u="none" cap="none" strike="noStrike">
                <a:solidFill>
                  <a:schemeClr val="lt1"/>
                </a:solidFill>
                <a:latin typeface="Calibri"/>
                <a:ea typeface="Calibri"/>
                <a:cs typeface="Calibri"/>
                <a:sym typeface="Calibri"/>
              </a:rPr>
              <a:t>3</a:t>
            </a:r>
            <a:endParaRPr b="0" i="0" sz="1800" u="none" cap="none" strike="noStrike">
              <a:solidFill>
                <a:schemeClr val="dk1"/>
              </a:solidFill>
              <a:latin typeface="Calibri"/>
              <a:ea typeface="Calibri"/>
              <a:cs typeface="Calibri"/>
              <a:sym typeface="Calibri"/>
            </a:endParaRPr>
          </a:p>
        </p:txBody>
      </p:sp>
      <p:sp>
        <p:nvSpPr>
          <p:cNvPr id="185" name="Google Shape;185;p11"/>
          <p:cNvSpPr txBox="1"/>
          <p:nvPr/>
        </p:nvSpPr>
        <p:spPr>
          <a:xfrm>
            <a:off x="1463040" y="3566160"/>
            <a:ext cx="42976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docker (x2)</a:t>
            </a:r>
            <a:endParaRPr b="0" i="0" sz="1800" u="none" cap="none" strike="noStrike">
              <a:solidFill>
                <a:schemeClr val="dk1"/>
              </a:solidFill>
              <a:latin typeface="Calibri"/>
              <a:ea typeface="Calibri"/>
              <a:cs typeface="Calibri"/>
              <a:sym typeface="Calibri"/>
            </a:endParaRPr>
          </a:p>
        </p:txBody>
      </p:sp>
      <p:sp>
        <p:nvSpPr>
          <p:cNvPr id="186" name="Google Shape;186;p11"/>
          <p:cNvSpPr txBox="1"/>
          <p:nvPr/>
        </p:nvSpPr>
        <p:spPr>
          <a:xfrm>
            <a:off x="1463040" y="3931920"/>
            <a:ext cx="42976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build, scan, then push</a:t>
            </a:r>
            <a:endParaRPr b="0" i="0" sz="1400" u="none" cap="none" strike="noStrike">
              <a:solidFill>
                <a:schemeClr val="dk1"/>
              </a:solidFill>
              <a:latin typeface="Calibri"/>
              <a:ea typeface="Calibri"/>
              <a:cs typeface="Calibri"/>
              <a:sym typeface="Calibri"/>
            </a:endParaRPr>
          </a:p>
        </p:txBody>
      </p:sp>
      <p:sp>
        <p:nvSpPr>
          <p:cNvPr id="187" name="Google Shape;187;p11"/>
          <p:cNvSpPr/>
          <p:nvPr/>
        </p:nvSpPr>
        <p:spPr>
          <a:xfrm>
            <a:off x="548640" y="4434840"/>
            <a:ext cx="5394960" cy="822960"/>
          </a:xfrm>
          <a:prstGeom prst="roundRect">
            <a:avLst>
              <a:gd fmla="val 13333"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a:off x="731520" y="4590288"/>
            <a:ext cx="512064" cy="512064"/>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1"/>
          <p:cNvSpPr txBox="1"/>
          <p:nvPr/>
        </p:nvSpPr>
        <p:spPr>
          <a:xfrm>
            <a:off x="731520" y="4590288"/>
            <a:ext cx="512064"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i="0" lang="en-US" sz="1800" u="none" cap="none" strike="noStrike">
                <a:solidFill>
                  <a:schemeClr val="lt1"/>
                </a:solidFill>
                <a:latin typeface="Calibri"/>
                <a:ea typeface="Calibri"/>
                <a:cs typeface="Calibri"/>
                <a:sym typeface="Calibri"/>
              </a:rPr>
              <a:t>4</a:t>
            </a:r>
            <a:endParaRPr b="0" i="0" sz="1800" u="none" cap="none" strike="noStrike">
              <a:solidFill>
                <a:schemeClr val="dk1"/>
              </a:solidFill>
              <a:latin typeface="Calibri"/>
              <a:ea typeface="Calibri"/>
              <a:cs typeface="Calibri"/>
              <a:sym typeface="Calibri"/>
            </a:endParaRPr>
          </a:p>
        </p:txBody>
      </p:sp>
      <p:sp>
        <p:nvSpPr>
          <p:cNvPr id="190" name="Google Shape;190;p11"/>
          <p:cNvSpPr txBox="1"/>
          <p:nvPr/>
        </p:nvSpPr>
        <p:spPr>
          <a:xfrm>
            <a:off x="1463040" y="4526280"/>
            <a:ext cx="42976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deploy</a:t>
            </a:r>
            <a:endParaRPr b="0" i="0" sz="1800" u="none" cap="none" strike="noStrike">
              <a:solidFill>
                <a:schemeClr val="dk1"/>
              </a:solidFill>
              <a:latin typeface="Calibri"/>
              <a:ea typeface="Calibri"/>
              <a:cs typeface="Calibri"/>
              <a:sym typeface="Calibri"/>
            </a:endParaRPr>
          </a:p>
        </p:txBody>
      </p:sp>
      <p:sp>
        <p:nvSpPr>
          <p:cNvPr id="191" name="Google Shape;191;p11"/>
          <p:cNvSpPr txBox="1"/>
          <p:nvPr/>
        </p:nvSpPr>
        <p:spPr>
          <a:xfrm>
            <a:off x="1463040" y="4892040"/>
            <a:ext cx="42976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helm upgrade (optional)</a:t>
            </a:r>
            <a:endParaRPr b="0" i="0" sz="1400" u="none" cap="none" strike="noStrike">
              <a:solidFill>
                <a:schemeClr val="dk1"/>
              </a:solidFill>
              <a:latin typeface="Calibri"/>
              <a:ea typeface="Calibri"/>
              <a:cs typeface="Calibri"/>
              <a:sym typeface="Calibri"/>
            </a:endParaRPr>
          </a:p>
        </p:txBody>
      </p:sp>
      <p:sp>
        <p:nvSpPr>
          <p:cNvPr id="192" name="Google Shape;192;p11"/>
          <p:cNvSpPr txBox="1"/>
          <p:nvPr/>
        </p:nvSpPr>
        <p:spPr>
          <a:xfrm>
            <a:off x="548640" y="5486400"/>
            <a:ext cx="539496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600"/>
              <a:buFont typeface="Calibri"/>
              <a:buNone/>
            </a:pPr>
            <a:r>
              <a:rPr b="1" i="0" lang="en-US" sz="1600" u="none" cap="none" strike="noStrike">
                <a:solidFill>
                  <a:schemeClr val="accent1"/>
                </a:solidFill>
                <a:latin typeface="Calibri"/>
                <a:ea typeface="Calibri"/>
                <a:cs typeface="Calibri"/>
                <a:sym typeface="Calibri"/>
              </a:rPr>
              <a:t>Image tag = the Git commit SHA, never "latest"</a:t>
            </a:r>
            <a:endParaRPr b="0" i="0" sz="1600" u="none" cap="none" strike="noStrike">
              <a:solidFill>
                <a:schemeClr val="dk1"/>
              </a:solidFill>
              <a:latin typeface="Calibri"/>
              <a:ea typeface="Calibri"/>
              <a:cs typeface="Calibri"/>
              <a:sym typeface="Calibri"/>
            </a:endParaRPr>
          </a:p>
        </p:txBody>
      </p:sp>
      <p:sp>
        <p:nvSpPr>
          <p:cNvPr id="193" name="Google Shape;193;p11"/>
          <p:cNvSpPr/>
          <p:nvPr/>
        </p:nvSpPr>
        <p:spPr>
          <a:xfrm>
            <a:off x="6217920" y="1554480"/>
            <a:ext cx="5394960" cy="4206240"/>
          </a:xfrm>
          <a:prstGeom prst="roundRect">
            <a:avLst>
              <a:gd fmla="val 2174" name="adj"/>
            </a:avLst>
          </a:prstGeom>
          <a:solidFill>
            <a:srgbClr val="F6F9F9"/>
          </a:solidFill>
          <a:ln cap="flat" cmpd="sng" w="19050">
            <a:solidFill>
              <a:schemeClr val="accent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1"/>
          <p:cNvSpPr txBox="1"/>
          <p:nvPr/>
        </p:nvSpPr>
        <p:spPr>
          <a:xfrm>
            <a:off x="6492240" y="1554480"/>
            <a:ext cx="4846320" cy="42062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2"/>
              </a:buClr>
              <a:buSzPts val="1400"/>
              <a:buFont typeface="Calibri"/>
              <a:buNone/>
            </a:pPr>
            <a:r>
              <a:rPr b="0" i="1" lang="en-US" sz="1400" u="none" cap="none" strike="noStrike">
                <a:solidFill>
                  <a:schemeClr val="dk2"/>
                </a:solidFill>
                <a:latin typeface="Calibri"/>
                <a:ea typeface="Calibri"/>
                <a:cs typeface="Calibri"/>
                <a:sym typeface="Calibri"/>
              </a:rPr>
              <a:t>Screenshot: green GitHub Actions run, and the GHCR package page showing SHA tags</a:t>
            </a:r>
            <a:endParaRPr b="0" i="0" sz="1400" u="none" cap="none" strike="noStrike">
              <a:solidFill>
                <a:schemeClr val="dk1"/>
              </a:solidFill>
              <a:latin typeface="Calibri"/>
              <a:ea typeface="Calibri"/>
              <a:cs typeface="Calibri"/>
              <a:sym typeface="Calibri"/>
            </a:endParaRPr>
          </a:p>
        </p:txBody>
      </p:sp>
      <p:sp>
        <p:nvSpPr>
          <p:cNvPr id="195" name="Google Shape;195;p11"/>
          <p:cNvSpPr txBox="1"/>
          <p:nvPr>
            <p:ph idx="4294967295" type="sldNum"/>
          </p:nvPr>
        </p:nvSpPr>
        <p:spPr>
          <a:xfrm>
            <a:off x="1115568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accent6"/>
                </a:solidFill>
                <a:latin typeface="Calibri"/>
                <a:ea typeface="Calibri"/>
                <a:cs typeface="Calibri"/>
                <a:sym typeface="Calibri"/>
              </a:rPr>
              <a:t>‹#›</a:t>
            </a:fld>
            <a:endParaRPr b="0" i="0" sz="1100" u="none" cap="none" strike="noStrike">
              <a:solidFill>
                <a:schemeClr val="accent6"/>
              </a:solidFill>
              <a:latin typeface="Calibri"/>
              <a:ea typeface="Calibri"/>
              <a:cs typeface="Calibri"/>
              <a:sym typeface="Calibri"/>
            </a:endParaRPr>
          </a:p>
        </p:txBody>
      </p:sp>
      <p:pic>
        <p:nvPicPr>
          <p:cNvPr id="196" name="Google Shape;196;p11" title="image-9.png"/>
          <p:cNvPicPr preferRelativeResize="0"/>
          <p:nvPr/>
        </p:nvPicPr>
        <p:blipFill>
          <a:blip r:embed="rId3">
            <a:alphaModFix/>
          </a:blip>
          <a:stretch>
            <a:fillRect/>
          </a:stretch>
        </p:blipFill>
        <p:spPr>
          <a:xfrm>
            <a:off x="5533000" y="406875"/>
            <a:ext cx="6658998" cy="62682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2"/>
          <p:cNvSpPr txBox="1"/>
          <p:nvPr>
            <p:ph type="title"/>
          </p:nvPr>
        </p:nvSpPr>
        <p:spPr>
          <a:xfrm>
            <a:off x="548640" y="36576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600"/>
              <a:buFont typeface="Cambria"/>
              <a:buNone/>
            </a:pPr>
            <a:r>
              <a:rPr b="1" lang="en-US" sz="3600">
                <a:solidFill>
                  <a:schemeClr val="dk1"/>
                </a:solidFill>
              </a:rPr>
              <a:t>Security: scan before you ship</a:t>
            </a:r>
            <a:endParaRPr sz="3600"/>
          </a:p>
        </p:txBody>
      </p:sp>
      <p:sp>
        <p:nvSpPr>
          <p:cNvPr id="203" name="Google Shape;203;p12"/>
          <p:cNvSpPr/>
          <p:nvPr/>
        </p:nvSpPr>
        <p:spPr>
          <a:xfrm>
            <a:off x="548640" y="1554480"/>
            <a:ext cx="822960" cy="822960"/>
          </a:xfrm>
          <a:prstGeom prst="ellipse">
            <a:avLst/>
          </a:prstGeom>
          <a:solidFill>
            <a:schemeClr val="accent5"/>
          </a:solidFill>
          <a:ln cap="flat" cmpd="sng" w="127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4" name="Google Shape;204;p12"/>
          <p:cNvPicPr preferRelativeResize="0"/>
          <p:nvPr/>
        </p:nvPicPr>
        <p:blipFill rotWithShape="1">
          <a:blip r:embed="rId3">
            <a:alphaModFix/>
          </a:blip>
          <a:srcRect b="0" l="0" r="0" t="0"/>
          <a:stretch/>
        </p:blipFill>
        <p:spPr>
          <a:xfrm>
            <a:off x="754380" y="1760220"/>
            <a:ext cx="411480" cy="411480"/>
          </a:xfrm>
          <a:prstGeom prst="rect">
            <a:avLst/>
          </a:prstGeom>
          <a:noFill/>
          <a:ln>
            <a:noFill/>
          </a:ln>
        </p:spPr>
      </p:pic>
      <p:sp>
        <p:nvSpPr>
          <p:cNvPr id="205" name="Google Shape;205;p12"/>
          <p:cNvSpPr txBox="1"/>
          <p:nvPr/>
        </p:nvSpPr>
        <p:spPr>
          <a:xfrm>
            <a:off x="1600200" y="1645920"/>
            <a:ext cx="41148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200"/>
              <a:buFont typeface="Calibri"/>
              <a:buNone/>
            </a:pPr>
            <a:r>
              <a:rPr b="1" i="0" lang="en-US" sz="2200" u="none" cap="none" strike="noStrike">
                <a:solidFill>
                  <a:schemeClr val="dk1"/>
                </a:solidFill>
                <a:latin typeface="Calibri"/>
                <a:ea typeface="Calibri"/>
                <a:cs typeface="Calibri"/>
                <a:sym typeface="Calibri"/>
              </a:rPr>
              <a:t>What Trivy checks</a:t>
            </a:r>
            <a:endParaRPr b="0" i="0" sz="2200" u="none" cap="none" strike="noStrike">
              <a:solidFill>
                <a:schemeClr val="dk1"/>
              </a:solidFill>
              <a:latin typeface="Calibri"/>
              <a:ea typeface="Calibri"/>
              <a:cs typeface="Calibri"/>
              <a:sym typeface="Calibri"/>
            </a:endParaRPr>
          </a:p>
        </p:txBody>
      </p:sp>
      <p:sp>
        <p:nvSpPr>
          <p:cNvPr id="206" name="Google Shape;206;p12"/>
          <p:cNvSpPr txBox="1"/>
          <p:nvPr/>
        </p:nvSpPr>
        <p:spPr>
          <a:xfrm>
            <a:off x="548640" y="2651760"/>
            <a:ext cx="5303520" cy="23774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OS packages and Python/Node libraries inside each image</a:t>
            </a:r>
            <a:endParaRPr b="0" i="0" sz="16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Compared against a database of known CVEs</a:t>
            </a:r>
            <a:endParaRPr b="0" i="0" sz="16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Pipeline fails on HIGH or CRITICAL findings that have a fix</a:t>
            </a:r>
            <a:endParaRPr b="0" i="0" sz="16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Scan runs before push, so a bad image never reaches the registry</a:t>
            </a:r>
            <a:endParaRPr b="0" i="0" sz="1600" u="none" cap="none" strike="noStrike">
              <a:solidFill>
                <a:schemeClr val="dk1"/>
              </a:solidFill>
              <a:latin typeface="Calibri"/>
              <a:ea typeface="Calibri"/>
              <a:cs typeface="Calibri"/>
              <a:sym typeface="Calibri"/>
            </a:endParaRPr>
          </a:p>
        </p:txBody>
      </p:sp>
      <p:sp>
        <p:nvSpPr>
          <p:cNvPr id="207" name="Google Shape;207;p12"/>
          <p:cNvSpPr/>
          <p:nvPr/>
        </p:nvSpPr>
        <p:spPr>
          <a:xfrm>
            <a:off x="6217920" y="1554480"/>
            <a:ext cx="5394960" cy="2148840"/>
          </a:xfrm>
          <a:prstGeom prst="roundRect">
            <a:avLst>
              <a:gd fmla="val 5106"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2"/>
          <p:cNvSpPr txBox="1"/>
          <p:nvPr/>
        </p:nvSpPr>
        <p:spPr>
          <a:xfrm>
            <a:off x="6446520" y="1737360"/>
            <a:ext cx="49377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2000"/>
              <a:buFont typeface="Calibri"/>
              <a:buNone/>
            </a:pPr>
            <a:r>
              <a:rPr b="1" i="0" lang="en-US" sz="2000" u="none" cap="none" strike="noStrike">
                <a:solidFill>
                  <a:schemeClr val="accent5"/>
                </a:solidFill>
                <a:latin typeface="Calibri"/>
                <a:ea typeface="Calibri"/>
                <a:cs typeface="Calibri"/>
                <a:sym typeface="Calibri"/>
              </a:rPr>
              <a:t>A supply-chain lesson</a:t>
            </a:r>
            <a:endParaRPr b="0" i="0" sz="2000" u="none" cap="none" strike="noStrike">
              <a:solidFill>
                <a:schemeClr val="dk1"/>
              </a:solidFill>
              <a:latin typeface="Calibri"/>
              <a:ea typeface="Calibri"/>
              <a:cs typeface="Calibri"/>
              <a:sym typeface="Calibri"/>
            </a:endParaRPr>
          </a:p>
        </p:txBody>
      </p:sp>
      <p:sp>
        <p:nvSpPr>
          <p:cNvPr id="209" name="Google Shape;209;p12"/>
          <p:cNvSpPr txBox="1"/>
          <p:nvPr/>
        </p:nvSpPr>
        <p:spPr>
          <a:xfrm>
            <a:off x="6446520" y="2240280"/>
            <a:ext cx="493776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In March 2026 the version tags of the trivy-action were hijacked. I pinned it to a full commit SHA, which cannot be moved.</a:t>
            </a:r>
            <a:endParaRPr b="0" i="0" sz="1600" u="none" cap="none" strike="noStrike">
              <a:solidFill>
                <a:schemeClr val="dk1"/>
              </a:solidFill>
              <a:latin typeface="Calibri"/>
              <a:ea typeface="Calibri"/>
              <a:cs typeface="Calibri"/>
              <a:sym typeface="Calibri"/>
            </a:endParaRPr>
          </a:p>
        </p:txBody>
      </p:sp>
      <p:sp>
        <p:nvSpPr>
          <p:cNvPr id="210" name="Google Shape;210;p12"/>
          <p:cNvSpPr/>
          <p:nvPr/>
        </p:nvSpPr>
        <p:spPr>
          <a:xfrm>
            <a:off x="6217920" y="3931920"/>
            <a:ext cx="5394960" cy="2011680"/>
          </a:xfrm>
          <a:prstGeom prst="roundRect">
            <a:avLst>
              <a:gd fmla="val 4545" name="adj"/>
            </a:avLst>
          </a:prstGeom>
          <a:solidFill>
            <a:srgbClr val="F6F9F9"/>
          </a:solidFill>
          <a:ln cap="flat" cmpd="sng" w="19050">
            <a:solidFill>
              <a:schemeClr val="accent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2"/>
          <p:cNvSpPr txBox="1"/>
          <p:nvPr/>
        </p:nvSpPr>
        <p:spPr>
          <a:xfrm>
            <a:off x="6492240" y="3931920"/>
            <a:ext cx="4846320" cy="20116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2"/>
              </a:buClr>
              <a:buSzPts val="1400"/>
              <a:buFont typeface="Calibri"/>
              <a:buNone/>
            </a:pPr>
            <a:r>
              <a:rPr b="0" i="1" lang="en-US" sz="1400" u="none" cap="none" strike="noStrike">
                <a:solidFill>
                  <a:schemeClr val="dk2"/>
                </a:solidFill>
                <a:latin typeface="Calibri"/>
                <a:ea typeface="Calibri"/>
                <a:cs typeface="Calibri"/>
                <a:sym typeface="Calibri"/>
              </a:rPr>
              <a:t>Screenshot: Trivy scan step output from the pipeline</a:t>
            </a:r>
            <a:endParaRPr b="0" i="0" sz="1400" u="none" cap="none" strike="noStrike">
              <a:solidFill>
                <a:schemeClr val="dk1"/>
              </a:solidFill>
              <a:latin typeface="Calibri"/>
              <a:ea typeface="Calibri"/>
              <a:cs typeface="Calibri"/>
              <a:sym typeface="Calibri"/>
            </a:endParaRPr>
          </a:p>
        </p:txBody>
      </p:sp>
      <p:sp>
        <p:nvSpPr>
          <p:cNvPr id="212" name="Google Shape;212;p12"/>
          <p:cNvSpPr txBox="1"/>
          <p:nvPr>
            <p:ph idx="4294967295" type="sldNum"/>
          </p:nvPr>
        </p:nvSpPr>
        <p:spPr>
          <a:xfrm>
            <a:off x="1115568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accent6"/>
                </a:solidFill>
                <a:latin typeface="Calibri"/>
                <a:ea typeface="Calibri"/>
                <a:cs typeface="Calibri"/>
                <a:sym typeface="Calibri"/>
              </a:rPr>
              <a:t>‹#›</a:t>
            </a:fld>
            <a:endParaRPr b="0" i="0" sz="1100" u="none" cap="none" strike="noStrike">
              <a:solidFill>
                <a:schemeClr val="accent6"/>
              </a:solidFill>
              <a:latin typeface="Calibri"/>
              <a:ea typeface="Calibri"/>
              <a:cs typeface="Calibri"/>
              <a:sym typeface="Calibri"/>
            </a:endParaRPr>
          </a:p>
        </p:txBody>
      </p:sp>
      <p:pic>
        <p:nvPicPr>
          <p:cNvPr id="213" name="Google Shape;213;p12" title="image-10.png"/>
          <p:cNvPicPr preferRelativeResize="0"/>
          <p:nvPr/>
        </p:nvPicPr>
        <p:blipFill>
          <a:blip r:embed="rId4">
            <a:alphaModFix/>
          </a:blip>
          <a:stretch>
            <a:fillRect/>
          </a:stretch>
        </p:blipFill>
        <p:spPr>
          <a:xfrm>
            <a:off x="5984725" y="3611875"/>
            <a:ext cx="5861349" cy="31714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3"/>
          <p:cNvSpPr txBox="1"/>
          <p:nvPr>
            <p:ph type="title"/>
          </p:nvPr>
        </p:nvSpPr>
        <p:spPr>
          <a:xfrm>
            <a:off x="548640" y="36576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600"/>
              <a:buFont typeface="Cambria"/>
              <a:buNone/>
            </a:pPr>
            <a:r>
              <a:rPr b="1" lang="en-US" sz="3600">
                <a:solidFill>
                  <a:schemeClr val="dk1"/>
                </a:solidFill>
              </a:rPr>
              <a:t>Terraform: AWS infrastructure as code</a:t>
            </a:r>
            <a:endParaRPr sz="3600"/>
          </a:p>
        </p:txBody>
      </p:sp>
      <p:sp>
        <p:nvSpPr>
          <p:cNvPr id="220" name="Google Shape;220;p13"/>
          <p:cNvSpPr/>
          <p:nvPr/>
        </p:nvSpPr>
        <p:spPr>
          <a:xfrm>
            <a:off x="548640" y="1508760"/>
            <a:ext cx="6766560" cy="4480560"/>
          </a:xfrm>
          <a:prstGeom prst="roundRect">
            <a:avLst>
              <a:gd fmla="val 2041" name="adj"/>
            </a:avLst>
          </a:prstGeom>
          <a:solidFill>
            <a:schemeClr val="lt2"/>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3"/>
          <p:cNvSpPr txBox="1"/>
          <p:nvPr/>
        </p:nvSpPr>
        <p:spPr>
          <a:xfrm>
            <a:off x="777240" y="1645920"/>
            <a:ext cx="5943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800"/>
              <a:buFont typeface="Calibri"/>
              <a:buNone/>
            </a:pPr>
            <a:r>
              <a:rPr b="1" i="0" lang="en-US" sz="1800" u="none" cap="none" strike="noStrike">
                <a:solidFill>
                  <a:schemeClr val="accent1"/>
                </a:solidFill>
                <a:latin typeface="Calibri"/>
                <a:ea typeface="Calibri"/>
                <a:cs typeface="Calibri"/>
                <a:sym typeface="Calibri"/>
              </a:rPr>
              <a:t>VPC  10.0.0.0/16</a:t>
            </a:r>
            <a:endParaRPr b="0" i="0" sz="1800" u="none" cap="none" strike="noStrike">
              <a:solidFill>
                <a:schemeClr val="dk1"/>
              </a:solidFill>
              <a:latin typeface="Calibri"/>
              <a:ea typeface="Calibri"/>
              <a:cs typeface="Calibri"/>
              <a:sym typeface="Calibri"/>
            </a:endParaRPr>
          </a:p>
        </p:txBody>
      </p:sp>
      <p:sp>
        <p:nvSpPr>
          <p:cNvPr id="222" name="Google Shape;222;p13"/>
          <p:cNvSpPr/>
          <p:nvPr/>
        </p:nvSpPr>
        <p:spPr>
          <a:xfrm>
            <a:off x="777240" y="2194560"/>
            <a:ext cx="3017520" cy="3566160"/>
          </a:xfrm>
          <a:prstGeom prst="roundRect">
            <a:avLst>
              <a:gd fmla="val 2424" name="adj"/>
            </a:avLst>
          </a:prstGeom>
          <a:solidFill>
            <a:schemeClr val="lt1"/>
          </a:solidFill>
          <a:ln cap="flat" cmpd="sng" w="12700">
            <a:solidFill>
              <a:schemeClr val="accent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3"/>
          <p:cNvSpPr txBox="1"/>
          <p:nvPr/>
        </p:nvSpPr>
        <p:spPr>
          <a:xfrm>
            <a:off x="960120" y="2286000"/>
            <a:ext cx="26517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US" sz="1400" u="none" cap="none" strike="noStrike">
                <a:solidFill>
                  <a:schemeClr val="dk2"/>
                </a:solidFill>
                <a:latin typeface="Calibri"/>
                <a:ea typeface="Calibri"/>
                <a:cs typeface="Calibri"/>
                <a:sym typeface="Calibri"/>
              </a:rPr>
              <a:t>Public subnet, zone 1</a:t>
            </a:r>
            <a:endParaRPr b="0" i="0" sz="1400" u="none" cap="none" strike="noStrike">
              <a:solidFill>
                <a:schemeClr val="dk1"/>
              </a:solidFill>
              <a:latin typeface="Calibri"/>
              <a:ea typeface="Calibri"/>
              <a:cs typeface="Calibri"/>
              <a:sym typeface="Calibri"/>
            </a:endParaRPr>
          </a:p>
        </p:txBody>
      </p:sp>
      <p:sp>
        <p:nvSpPr>
          <p:cNvPr id="224" name="Google Shape;224;p13"/>
          <p:cNvSpPr/>
          <p:nvPr/>
        </p:nvSpPr>
        <p:spPr>
          <a:xfrm>
            <a:off x="4023360" y="2194560"/>
            <a:ext cx="3017520" cy="3566160"/>
          </a:xfrm>
          <a:prstGeom prst="roundRect">
            <a:avLst>
              <a:gd fmla="val 2424" name="adj"/>
            </a:avLst>
          </a:prstGeom>
          <a:solidFill>
            <a:schemeClr val="lt1"/>
          </a:solidFill>
          <a:ln cap="flat" cmpd="sng" w="12700">
            <a:solidFill>
              <a:schemeClr val="accent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3"/>
          <p:cNvSpPr txBox="1"/>
          <p:nvPr/>
        </p:nvSpPr>
        <p:spPr>
          <a:xfrm>
            <a:off x="4206240" y="2286000"/>
            <a:ext cx="26517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US" sz="1400" u="none" cap="none" strike="noStrike">
                <a:solidFill>
                  <a:schemeClr val="dk2"/>
                </a:solidFill>
                <a:latin typeface="Calibri"/>
                <a:ea typeface="Calibri"/>
                <a:cs typeface="Calibri"/>
                <a:sym typeface="Calibri"/>
              </a:rPr>
              <a:t>Public subnet, zone 2</a:t>
            </a:r>
            <a:endParaRPr b="0" i="0" sz="1400" u="none" cap="none" strike="noStrike">
              <a:solidFill>
                <a:schemeClr val="dk1"/>
              </a:solidFill>
              <a:latin typeface="Calibri"/>
              <a:ea typeface="Calibri"/>
              <a:cs typeface="Calibri"/>
              <a:sym typeface="Calibri"/>
            </a:endParaRPr>
          </a:p>
        </p:txBody>
      </p:sp>
      <p:sp>
        <p:nvSpPr>
          <p:cNvPr id="226" name="Google Shape;226;p13"/>
          <p:cNvSpPr/>
          <p:nvPr/>
        </p:nvSpPr>
        <p:spPr>
          <a:xfrm>
            <a:off x="960120" y="2788920"/>
            <a:ext cx="2651760" cy="1051560"/>
          </a:xfrm>
          <a:prstGeom prst="roundRect">
            <a:avLst>
              <a:gd fmla="val 6957" name="adj"/>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3"/>
          <p:cNvSpPr txBox="1"/>
          <p:nvPr/>
        </p:nvSpPr>
        <p:spPr>
          <a:xfrm>
            <a:off x="960120" y="2788920"/>
            <a:ext cx="2651760" cy="10515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EKS worker node</a:t>
            </a:r>
            <a:endParaRPr b="0" i="0" sz="1600" u="none" cap="none" strike="noStrike">
              <a:solidFill>
                <a:schemeClr val="dk1"/>
              </a:solidFill>
              <a:latin typeface="Calibri"/>
              <a:ea typeface="Calibri"/>
              <a:cs typeface="Calibri"/>
              <a:sym typeface="Calibri"/>
            </a:endParaRPr>
          </a:p>
        </p:txBody>
      </p:sp>
      <p:sp>
        <p:nvSpPr>
          <p:cNvPr id="228" name="Google Shape;228;p13"/>
          <p:cNvSpPr/>
          <p:nvPr/>
        </p:nvSpPr>
        <p:spPr>
          <a:xfrm>
            <a:off x="4206240" y="2788920"/>
            <a:ext cx="2651760" cy="1051560"/>
          </a:xfrm>
          <a:prstGeom prst="roundRect">
            <a:avLst>
              <a:gd fmla="val 6957" name="adj"/>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3"/>
          <p:cNvSpPr txBox="1"/>
          <p:nvPr/>
        </p:nvSpPr>
        <p:spPr>
          <a:xfrm>
            <a:off x="4206240" y="2788920"/>
            <a:ext cx="2651760" cy="10515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EKS worker node</a:t>
            </a:r>
            <a:endParaRPr b="0" i="0" sz="1600" u="none" cap="none" strike="noStrike">
              <a:solidFill>
                <a:schemeClr val="dk1"/>
              </a:solidFill>
              <a:latin typeface="Calibri"/>
              <a:ea typeface="Calibri"/>
              <a:cs typeface="Calibri"/>
              <a:sym typeface="Calibri"/>
            </a:endParaRPr>
          </a:p>
        </p:txBody>
      </p:sp>
      <p:sp>
        <p:nvSpPr>
          <p:cNvPr id="230" name="Google Shape;230;p13"/>
          <p:cNvSpPr/>
          <p:nvPr/>
        </p:nvSpPr>
        <p:spPr>
          <a:xfrm>
            <a:off x="960120" y="4206240"/>
            <a:ext cx="2651760" cy="1051560"/>
          </a:xfrm>
          <a:prstGeom prst="roundRect">
            <a:avLst>
              <a:gd fmla="val 6957" name="adj"/>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3"/>
          <p:cNvSpPr txBox="1"/>
          <p:nvPr/>
        </p:nvSpPr>
        <p:spPr>
          <a:xfrm>
            <a:off x="960120" y="4206240"/>
            <a:ext cx="2651760" cy="10515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EKS worker node</a:t>
            </a:r>
            <a:endParaRPr b="0" i="0" sz="1600" u="none" cap="none" strike="noStrike">
              <a:solidFill>
                <a:schemeClr val="dk1"/>
              </a:solidFill>
              <a:latin typeface="Calibri"/>
              <a:ea typeface="Calibri"/>
              <a:cs typeface="Calibri"/>
              <a:sym typeface="Calibri"/>
            </a:endParaRPr>
          </a:p>
        </p:txBody>
      </p:sp>
      <p:sp>
        <p:nvSpPr>
          <p:cNvPr id="232" name="Google Shape;232;p13"/>
          <p:cNvSpPr txBox="1"/>
          <p:nvPr/>
        </p:nvSpPr>
        <p:spPr>
          <a:xfrm>
            <a:off x="7680960" y="1554480"/>
            <a:ext cx="3931920" cy="31089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VPC with two public subnets</a:t>
            </a:r>
            <a:endParaRPr b="0" i="0" sz="16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EKS control plane plus a managed node group of 3 nodes</a:t>
            </a:r>
            <a:endParaRPr b="0" i="0" sz="16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Add-ons: EBS CSI (database disk), metrics-server (autoscaling)</a:t>
            </a:r>
            <a:endParaRPr b="0" i="0" sz="16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terraform plan, apply, destroy: no console clicking</a:t>
            </a:r>
            <a:endParaRPr b="0" i="0" sz="1600" u="none" cap="none" strike="noStrike">
              <a:solidFill>
                <a:schemeClr val="dk1"/>
              </a:solidFill>
              <a:latin typeface="Calibri"/>
              <a:ea typeface="Calibri"/>
              <a:cs typeface="Calibri"/>
              <a:sym typeface="Calibri"/>
            </a:endParaRPr>
          </a:p>
        </p:txBody>
      </p:sp>
      <p:sp>
        <p:nvSpPr>
          <p:cNvPr id="233" name="Google Shape;233;p13"/>
          <p:cNvSpPr txBox="1"/>
          <p:nvPr/>
        </p:nvSpPr>
        <p:spPr>
          <a:xfrm>
            <a:off x="7680960" y="4846320"/>
            <a:ext cx="393192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rPr b="1" i="0" lang="en-US" sz="1400" u="none" cap="none" strike="noStrike">
                <a:solidFill>
                  <a:schemeClr val="accent5"/>
                </a:solidFill>
                <a:latin typeface="Calibri"/>
                <a:ea typeface="Calibri"/>
                <a:cs typeface="Calibri"/>
                <a:sym typeface="Calibri"/>
              </a:rPr>
              <a:t>Costs money while running, so I always run teardown and destroy afterwards.</a:t>
            </a:r>
            <a:endParaRPr b="0" i="0" sz="1400" u="none" cap="none" strike="noStrike">
              <a:solidFill>
                <a:schemeClr val="dk1"/>
              </a:solidFill>
              <a:latin typeface="Calibri"/>
              <a:ea typeface="Calibri"/>
              <a:cs typeface="Calibri"/>
              <a:sym typeface="Calibri"/>
            </a:endParaRPr>
          </a:p>
        </p:txBody>
      </p:sp>
      <p:sp>
        <p:nvSpPr>
          <p:cNvPr id="234" name="Google Shape;234;p13"/>
          <p:cNvSpPr txBox="1"/>
          <p:nvPr>
            <p:ph idx="4294967295" type="sldNum"/>
          </p:nvPr>
        </p:nvSpPr>
        <p:spPr>
          <a:xfrm>
            <a:off x="1115568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accent6"/>
                </a:solidFill>
                <a:latin typeface="Calibri"/>
                <a:ea typeface="Calibri"/>
                <a:cs typeface="Calibri"/>
                <a:sym typeface="Calibri"/>
              </a:rPr>
              <a:t>‹#›</a:t>
            </a:fld>
            <a:endParaRPr b="0" i="0" sz="1100" u="none" cap="none" strike="noStrike">
              <a:solidFill>
                <a:schemeClr val="accent6"/>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4"/>
          <p:cNvSpPr txBox="1"/>
          <p:nvPr>
            <p:ph type="title"/>
          </p:nvPr>
        </p:nvSpPr>
        <p:spPr>
          <a:xfrm>
            <a:off x="548640" y="36576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600"/>
              <a:buFont typeface="Cambria"/>
              <a:buNone/>
            </a:pPr>
            <a:r>
              <a:rPr b="1" lang="en-US" sz="3600">
                <a:solidFill>
                  <a:schemeClr val="dk1"/>
                </a:solidFill>
              </a:rPr>
              <a:t>Kubernetes + Helm: one chart, whole app</a:t>
            </a:r>
            <a:endParaRPr sz="3600"/>
          </a:p>
        </p:txBody>
      </p:sp>
      <p:sp>
        <p:nvSpPr>
          <p:cNvPr id="241" name="Google Shape;241;p14"/>
          <p:cNvSpPr/>
          <p:nvPr/>
        </p:nvSpPr>
        <p:spPr>
          <a:xfrm>
            <a:off x="548640" y="2514600"/>
            <a:ext cx="2011680" cy="1280160"/>
          </a:xfrm>
          <a:prstGeom prst="roundRect">
            <a:avLst>
              <a:gd fmla="val 8571"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4"/>
          <p:cNvSpPr txBox="1"/>
          <p:nvPr/>
        </p:nvSpPr>
        <p:spPr>
          <a:xfrm>
            <a:off x="548640" y="2651760"/>
            <a:ext cx="201168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6"/>
              </a:buClr>
              <a:buSzPts val="2000"/>
              <a:buFont typeface="Calibri"/>
              <a:buNone/>
            </a:pPr>
            <a:r>
              <a:rPr b="1" i="0" lang="en-US" sz="2000" u="none" cap="none" strike="noStrike">
                <a:solidFill>
                  <a:schemeClr val="accent6"/>
                </a:solidFill>
                <a:latin typeface="Calibri"/>
                <a:ea typeface="Calibri"/>
                <a:cs typeface="Calibri"/>
                <a:sym typeface="Calibri"/>
              </a:rPr>
              <a:t>Internet</a:t>
            </a:r>
            <a:endParaRPr b="0" i="0" sz="2000" u="none" cap="none" strike="noStrike">
              <a:solidFill>
                <a:schemeClr val="dk1"/>
              </a:solidFill>
              <a:latin typeface="Calibri"/>
              <a:ea typeface="Calibri"/>
              <a:cs typeface="Calibri"/>
              <a:sym typeface="Calibri"/>
            </a:endParaRPr>
          </a:p>
        </p:txBody>
      </p:sp>
      <p:sp>
        <p:nvSpPr>
          <p:cNvPr id="243" name="Google Shape;243;p14"/>
          <p:cNvSpPr txBox="1"/>
          <p:nvPr/>
        </p:nvSpPr>
        <p:spPr>
          <a:xfrm>
            <a:off x="548640" y="3154680"/>
            <a:ext cx="2011680" cy="3657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load balancer</a:t>
            </a:r>
            <a:endParaRPr b="0" i="0" sz="1400" u="none" cap="none" strike="noStrike">
              <a:solidFill>
                <a:schemeClr val="dk1"/>
              </a:solidFill>
              <a:latin typeface="Calibri"/>
              <a:ea typeface="Calibri"/>
              <a:cs typeface="Calibri"/>
              <a:sym typeface="Calibri"/>
            </a:endParaRPr>
          </a:p>
        </p:txBody>
      </p:sp>
      <p:sp>
        <p:nvSpPr>
          <p:cNvPr id="244" name="Google Shape;244;p14"/>
          <p:cNvSpPr/>
          <p:nvPr/>
        </p:nvSpPr>
        <p:spPr>
          <a:xfrm>
            <a:off x="3017520" y="2514600"/>
            <a:ext cx="2011680" cy="1280160"/>
          </a:xfrm>
          <a:prstGeom prst="roundRect">
            <a:avLst>
              <a:gd fmla="val 8571"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4"/>
          <p:cNvSpPr txBox="1"/>
          <p:nvPr/>
        </p:nvSpPr>
        <p:spPr>
          <a:xfrm>
            <a:off x="3017520" y="2651760"/>
            <a:ext cx="201168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2"/>
              </a:buClr>
              <a:buSzPts val="2000"/>
              <a:buFont typeface="Calibri"/>
              <a:buNone/>
            </a:pPr>
            <a:r>
              <a:rPr b="1" i="0" lang="en-US" sz="2000" u="none" cap="none" strike="noStrike">
                <a:solidFill>
                  <a:schemeClr val="accent2"/>
                </a:solidFill>
                <a:latin typeface="Calibri"/>
                <a:ea typeface="Calibri"/>
                <a:cs typeface="Calibri"/>
                <a:sym typeface="Calibri"/>
              </a:rPr>
              <a:t>Ingress</a:t>
            </a:r>
            <a:endParaRPr b="0" i="0" sz="2000" u="none" cap="none" strike="noStrike">
              <a:solidFill>
                <a:schemeClr val="dk1"/>
              </a:solidFill>
              <a:latin typeface="Calibri"/>
              <a:ea typeface="Calibri"/>
              <a:cs typeface="Calibri"/>
              <a:sym typeface="Calibri"/>
            </a:endParaRPr>
          </a:p>
        </p:txBody>
      </p:sp>
      <p:sp>
        <p:nvSpPr>
          <p:cNvPr id="246" name="Google Shape;246;p14"/>
          <p:cNvSpPr txBox="1"/>
          <p:nvPr/>
        </p:nvSpPr>
        <p:spPr>
          <a:xfrm>
            <a:off x="3017520" y="3154680"/>
            <a:ext cx="2011680" cy="3657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routes by path</a:t>
            </a:r>
            <a:endParaRPr b="0" i="0" sz="1400" u="none" cap="none" strike="noStrike">
              <a:solidFill>
                <a:schemeClr val="dk1"/>
              </a:solidFill>
              <a:latin typeface="Calibri"/>
              <a:ea typeface="Calibri"/>
              <a:cs typeface="Calibri"/>
              <a:sym typeface="Calibri"/>
            </a:endParaRPr>
          </a:p>
        </p:txBody>
      </p:sp>
      <p:sp>
        <p:nvSpPr>
          <p:cNvPr id="247" name="Google Shape;247;p14"/>
          <p:cNvSpPr/>
          <p:nvPr/>
        </p:nvSpPr>
        <p:spPr>
          <a:xfrm>
            <a:off x="2615184" y="2999232"/>
            <a:ext cx="310896" cy="274320"/>
          </a:xfrm>
          <a:prstGeom prst="rightArrow">
            <a:avLst>
              <a:gd fmla="val 50000" name="adj1"/>
              <a:gd fmla="val 50000" name="adj2"/>
            </a:avLst>
          </a:prstGeom>
          <a:solidFill>
            <a:schemeClr val="accent6"/>
          </a:solidFill>
          <a:ln cap="flat" cmpd="sng" w="127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4"/>
          <p:cNvSpPr/>
          <p:nvPr/>
        </p:nvSpPr>
        <p:spPr>
          <a:xfrm>
            <a:off x="5084064" y="2999232"/>
            <a:ext cx="310896" cy="274320"/>
          </a:xfrm>
          <a:prstGeom prst="rightArrow">
            <a:avLst>
              <a:gd fmla="val 50000" name="adj1"/>
              <a:gd fmla="val 50000" name="adj2"/>
            </a:avLst>
          </a:prstGeom>
          <a:solidFill>
            <a:schemeClr val="accent6"/>
          </a:solidFill>
          <a:ln cap="flat" cmpd="sng" w="127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4"/>
          <p:cNvSpPr/>
          <p:nvPr/>
        </p:nvSpPr>
        <p:spPr>
          <a:xfrm>
            <a:off x="5669280" y="1554480"/>
            <a:ext cx="2926080" cy="1417320"/>
          </a:xfrm>
          <a:prstGeom prst="roundRect">
            <a:avLst>
              <a:gd fmla="val 7742"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4"/>
          <p:cNvSpPr txBox="1"/>
          <p:nvPr/>
        </p:nvSpPr>
        <p:spPr>
          <a:xfrm>
            <a:off x="5852160" y="1691640"/>
            <a:ext cx="256032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  to frontend</a:t>
            </a:r>
            <a:endParaRPr b="0" i="0" sz="1800" u="none" cap="none" strike="noStrike">
              <a:solidFill>
                <a:schemeClr val="dk1"/>
              </a:solidFill>
              <a:latin typeface="Calibri"/>
              <a:ea typeface="Calibri"/>
              <a:cs typeface="Calibri"/>
              <a:sym typeface="Calibri"/>
            </a:endParaRPr>
          </a:p>
        </p:txBody>
      </p:sp>
      <p:sp>
        <p:nvSpPr>
          <p:cNvPr id="251" name="Google Shape;251;p14"/>
          <p:cNvSpPr txBox="1"/>
          <p:nvPr/>
        </p:nvSpPr>
        <p:spPr>
          <a:xfrm>
            <a:off x="5852160" y="2194560"/>
            <a:ext cx="25603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nginx + React, 2 pods</a:t>
            </a:r>
            <a:endParaRPr b="0" i="0" sz="1400" u="none" cap="none" strike="noStrike">
              <a:solidFill>
                <a:schemeClr val="dk1"/>
              </a:solidFill>
              <a:latin typeface="Calibri"/>
              <a:ea typeface="Calibri"/>
              <a:cs typeface="Calibri"/>
              <a:sym typeface="Calibri"/>
            </a:endParaRPr>
          </a:p>
        </p:txBody>
      </p:sp>
      <p:sp>
        <p:nvSpPr>
          <p:cNvPr id="252" name="Google Shape;252;p14"/>
          <p:cNvSpPr/>
          <p:nvPr/>
        </p:nvSpPr>
        <p:spPr>
          <a:xfrm>
            <a:off x="5669280" y="3246120"/>
            <a:ext cx="2926080" cy="1417320"/>
          </a:xfrm>
          <a:prstGeom prst="roundRect">
            <a:avLst>
              <a:gd fmla="val 7742"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4"/>
          <p:cNvSpPr txBox="1"/>
          <p:nvPr/>
        </p:nvSpPr>
        <p:spPr>
          <a:xfrm>
            <a:off x="5852160" y="3383280"/>
            <a:ext cx="256032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/api  to backend</a:t>
            </a:r>
            <a:endParaRPr b="0" i="0" sz="1800" u="none" cap="none" strike="noStrike">
              <a:solidFill>
                <a:schemeClr val="dk1"/>
              </a:solidFill>
              <a:latin typeface="Calibri"/>
              <a:ea typeface="Calibri"/>
              <a:cs typeface="Calibri"/>
              <a:sym typeface="Calibri"/>
            </a:endParaRPr>
          </a:p>
        </p:txBody>
      </p:sp>
      <p:sp>
        <p:nvSpPr>
          <p:cNvPr id="254" name="Google Shape;254;p14"/>
          <p:cNvSpPr txBox="1"/>
          <p:nvPr/>
        </p:nvSpPr>
        <p:spPr>
          <a:xfrm>
            <a:off x="5852160" y="3886200"/>
            <a:ext cx="25603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FastAPI, 2 to 6 pods</a:t>
            </a:r>
            <a:endParaRPr b="0" i="0" sz="1400" u="none" cap="none" strike="noStrike">
              <a:solidFill>
                <a:schemeClr val="dk1"/>
              </a:solidFill>
              <a:latin typeface="Calibri"/>
              <a:ea typeface="Calibri"/>
              <a:cs typeface="Calibri"/>
              <a:sym typeface="Calibri"/>
            </a:endParaRPr>
          </a:p>
        </p:txBody>
      </p:sp>
      <p:sp>
        <p:nvSpPr>
          <p:cNvPr id="255" name="Google Shape;255;p14"/>
          <p:cNvSpPr/>
          <p:nvPr/>
        </p:nvSpPr>
        <p:spPr>
          <a:xfrm>
            <a:off x="9052560" y="3246120"/>
            <a:ext cx="2560320" cy="1417320"/>
          </a:xfrm>
          <a:prstGeom prst="roundRect">
            <a:avLst>
              <a:gd fmla="val 7742"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4"/>
          <p:cNvSpPr txBox="1"/>
          <p:nvPr/>
        </p:nvSpPr>
        <p:spPr>
          <a:xfrm>
            <a:off x="9235440" y="3383280"/>
            <a:ext cx="21945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PostgreSQL</a:t>
            </a:r>
            <a:endParaRPr b="0" i="0" sz="1800" u="none" cap="none" strike="noStrike">
              <a:solidFill>
                <a:schemeClr val="dk1"/>
              </a:solidFill>
              <a:latin typeface="Calibri"/>
              <a:ea typeface="Calibri"/>
              <a:cs typeface="Calibri"/>
              <a:sym typeface="Calibri"/>
            </a:endParaRPr>
          </a:p>
        </p:txBody>
      </p:sp>
      <p:sp>
        <p:nvSpPr>
          <p:cNvPr id="257" name="Google Shape;257;p14"/>
          <p:cNvSpPr txBox="1"/>
          <p:nvPr/>
        </p:nvSpPr>
        <p:spPr>
          <a:xfrm>
            <a:off x="9235440" y="3886200"/>
            <a:ext cx="21945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StatefulSet + EBS disk</a:t>
            </a:r>
            <a:endParaRPr b="0" i="0" sz="1400" u="none" cap="none" strike="noStrike">
              <a:solidFill>
                <a:schemeClr val="dk1"/>
              </a:solidFill>
              <a:latin typeface="Calibri"/>
              <a:ea typeface="Calibri"/>
              <a:cs typeface="Calibri"/>
              <a:sym typeface="Calibri"/>
            </a:endParaRPr>
          </a:p>
        </p:txBody>
      </p:sp>
      <p:sp>
        <p:nvSpPr>
          <p:cNvPr id="258" name="Google Shape;258;p14"/>
          <p:cNvSpPr/>
          <p:nvPr/>
        </p:nvSpPr>
        <p:spPr>
          <a:xfrm>
            <a:off x="8668512" y="3840480"/>
            <a:ext cx="310896" cy="274320"/>
          </a:xfrm>
          <a:prstGeom prst="rightArrow">
            <a:avLst>
              <a:gd fmla="val 50000" name="adj1"/>
              <a:gd fmla="val 50000" name="adj2"/>
            </a:avLst>
          </a:prstGeom>
          <a:solidFill>
            <a:schemeClr val="accent6"/>
          </a:solidFill>
          <a:ln cap="flat" cmpd="sng" w="127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4"/>
          <p:cNvSpPr txBox="1"/>
          <p:nvPr/>
        </p:nvSpPr>
        <p:spPr>
          <a:xfrm>
            <a:off x="548640" y="4983480"/>
            <a:ext cx="11064240" cy="12801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Migrations run in an init container before the backend starts</a:t>
            </a:r>
            <a:endParaRPr b="0" i="0" sz="16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Liveness (/health) restarts a stuck pod; readiness (/ready) only stops traffic</a:t>
            </a:r>
            <a:endParaRPr b="0" i="0" sz="16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Deploying a new version = helm upgrade with the new commit SHA</a:t>
            </a:r>
            <a:endParaRPr b="0" i="0" sz="1600" u="none" cap="none" strike="noStrike">
              <a:solidFill>
                <a:schemeClr val="dk1"/>
              </a:solidFill>
              <a:latin typeface="Calibri"/>
              <a:ea typeface="Calibri"/>
              <a:cs typeface="Calibri"/>
              <a:sym typeface="Calibri"/>
            </a:endParaRPr>
          </a:p>
        </p:txBody>
      </p:sp>
      <p:sp>
        <p:nvSpPr>
          <p:cNvPr id="260" name="Google Shape;260;p14"/>
          <p:cNvSpPr txBox="1"/>
          <p:nvPr>
            <p:ph idx="4294967295" type="sldNum"/>
          </p:nvPr>
        </p:nvSpPr>
        <p:spPr>
          <a:xfrm>
            <a:off x="1115568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accent6"/>
                </a:solidFill>
                <a:latin typeface="Calibri"/>
                <a:ea typeface="Calibri"/>
                <a:cs typeface="Calibri"/>
                <a:sym typeface="Calibri"/>
              </a:rPr>
              <a:t>‹#›</a:t>
            </a:fld>
            <a:endParaRPr b="0" i="0" sz="1100" u="none" cap="none" strike="noStrike">
              <a:solidFill>
                <a:schemeClr val="accent6"/>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5"/>
          <p:cNvSpPr txBox="1"/>
          <p:nvPr>
            <p:ph type="title"/>
          </p:nvPr>
        </p:nvSpPr>
        <p:spPr>
          <a:xfrm>
            <a:off x="548640" y="36576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600"/>
              <a:buFont typeface="Cambria"/>
              <a:buNone/>
            </a:pPr>
            <a:r>
              <a:rPr b="1" lang="en-US" sz="3600">
                <a:solidFill>
                  <a:schemeClr val="dk1"/>
                </a:solidFill>
              </a:rPr>
              <a:t>Autoscaling: HPA watches CPU</a:t>
            </a:r>
            <a:endParaRPr sz="3600"/>
          </a:p>
        </p:txBody>
      </p:sp>
      <p:sp>
        <p:nvSpPr>
          <p:cNvPr id="267" name="Google Shape;267;p15"/>
          <p:cNvSpPr/>
          <p:nvPr/>
        </p:nvSpPr>
        <p:spPr>
          <a:xfrm>
            <a:off x="548640" y="1554480"/>
            <a:ext cx="11064240" cy="1371600"/>
          </a:xfrm>
          <a:prstGeom prst="roundRect">
            <a:avLst>
              <a:gd fmla="val 8000"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5"/>
          <p:cNvSpPr txBox="1"/>
          <p:nvPr/>
        </p:nvSpPr>
        <p:spPr>
          <a:xfrm>
            <a:off x="548640" y="1554480"/>
            <a:ext cx="1106424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1"/>
              </a:buClr>
              <a:buSzPts val="2600"/>
              <a:buFont typeface="Calibri"/>
              <a:buNone/>
            </a:pPr>
            <a:r>
              <a:rPr b="1" i="0" lang="en-US" sz="2600" u="none" cap="none" strike="noStrike">
                <a:solidFill>
                  <a:schemeClr val="accent1"/>
                </a:solidFill>
                <a:latin typeface="Calibri"/>
                <a:ea typeface="Calibri"/>
                <a:cs typeface="Calibri"/>
                <a:sym typeface="Calibri"/>
              </a:rPr>
              <a:t>desired pods = ceil( current pods x current CPU % / target CPU % )</a:t>
            </a:r>
            <a:endParaRPr b="0" i="0" sz="2600" u="none" cap="none" strike="noStrike">
              <a:solidFill>
                <a:schemeClr val="dk1"/>
              </a:solidFill>
              <a:latin typeface="Calibri"/>
              <a:ea typeface="Calibri"/>
              <a:cs typeface="Calibri"/>
              <a:sym typeface="Calibri"/>
            </a:endParaRPr>
          </a:p>
        </p:txBody>
      </p:sp>
      <p:sp>
        <p:nvSpPr>
          <p:cNvPr id="269" name="Google Shape;269;p15"/>
          <p:cNvSpPr/>
          <p:nvPr/>
        </p:nvSpPr>
        <p:spPr>
          <a:xfrm>
            <a:off x="548640" y="3200400"/>
            <a:ext cx="5394960" cy="2743200"/>
          </a:xfrm>
          <a:prstGeom prst="roundRect">
            <a:avLst>
              <a:gd fmla="val 4000"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5"/>
          <p:cNvSpPr txBox="1"/>
          <p:nvPr/>
        </p:nvSpPr>
        <p:spPr>
          <a:xfrm>
            <a:off x="822960" y="3383280"/>
            <a:ext cx="484632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Worked example</a:t>
            </a:r>
            <a:endParaRPr b="0" i="0" sz="2000" u="none" cap="none" strike="noStrike">
              <a:solidFill>
                <a:schemeClr val="dk1"/>
              </a:solidFill>
              <a:latin typeface="Calibri"/>
              <a:ea typeface="Calibri"/>
              <a:cs typeface="Calibri"/>
              <a:sym typeface="Calibri"/>
            </a:endParaRPr>
          </a:p>
        </p:txBody>
      </p:sp>
      <p:sp>
        <p:nvSpPr>
          <p:cNvPr id="271" name="Google Shape;271;p15"/>
          <p:cNvSpPr txBox="1"/>
          <p:nvPr/>
        </p:nvSpPr>
        <p:spPr>
          <a:xfrm>
            <a:off x="822960" y="3931920"/>
            <a:ext cx="4846320" cy="1828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2 pods are using 150% of their CPU request. The target is 60%.</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ceil( 2 x 150 / 60 ) = ceil(5.0) = 5 pods</a:t>
            </a:r>
            <a:endParaRPr b="0" i="0" sz="1600" u="none" cap="none" strike="noStrike">
              <a:solidFill>
                <a:schemeClr val="dk1"/>
              </a:solidFill>
              <a:latin typeface="Calibri"/>
              <a:ea typeface="Calibri"/>
              <a:cs typeface="Calibri"/>
              <a:sym typeface="Calibri"/>
            </a:endParaRPr>
          </a:p>
        </p:txBody>
      </p:sp>
      <p:sp>
        <p:nvSpPr>
          <p:cNvPr id="272" name="Google Shape;272;p15"/>
          <p:cNvSpPr/>
          <p:nvPr/>
        </p:nvSpPr>
        <p:spPr>
          <a:xfrm>
            <a:off x="6217920" y="3200400"/>
            <a:ext cx="5394960" cy="2743200"/>
          </a:xfrm>
          <a:prstGeom prst="roundRect">
            <a:avLst>
              <a:gd fmla="val 4000"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5"/>
          <p:cNvSpPr txBox="1"/>
          <p:nvPr/>
        </p:nvSpPr>
        <p:spPr>
          <a:xfrm>
            <a:off x="6492240" y="3383280"/>
            <a:ext cx="484632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What has to be true</a:t>
            </a:r>
            <a:endParaRPr b="0" i="0" sz="2000" u="none" cap="none" strike="noStrike">
              <a:solidFill>
                <a:schemeClr val="dk1"/>
              </a:solidFill>
              <a:latin typeface="Calibri"/>
              <a:ea typeface="Calibri"/>
              <a:cs typeface="Calibri"/>
              <a:sym typeface="Calibri"/>
            </a:endParaRPr>
          </a:p>
        </p:txBody>
      </p:sp>
      <p:sp>
        <p:nvSpPr>
          <p:cNvPr id="274" name="Google Shape;274;p15"/>
          <p:cNvSpPr txBox="1"/>
          <p:nvPr/>
        </p:nvSpPr>
        <p:spPr>
          <a:xfrm>
            <a:off x="6492240" y="3931920"/>
            <a:ext cx="4846320" cy="18288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Pods declare a CPU request: the percentage is a percentage of it</a:t>
            </a:r>
            <a:endParaRPr b="0" i="0" sz="16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metrics-server is installed (Terraform add-on)</a:t>
            </a:r>
            <a:endParaRPr b="0" i="0" sz="16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Load test: scripts/loadtest.sh, then watch pods go from 2 up to 6</a:t>
            </a:r>
            <a:endParaRPr b="0" i="0" sz="1600" u="none" cap="none" strike="noStrike">
              <a:solidFill>
                <a:schemeClr val="dk1"/>
              </a:solidFill>
              <a:latin typeface="Calibri"/>
              <a:ea typeface="Calibri"/>
              <a:cs typeface="Calibri"/>
              <a:sym typeface="Calibri"/>
            </a:endParaRPr>
          </a:p>
        </p:txBody>
      </p:sp>
      <p:sp>
        <p:nvSpPr>
          <p:cNvPr id="275" name="Google Shape;275;p15"/>
          <p:cNvSpPr txBox="1"/>
          <p:nvPr>
            <p:ph idx="4294967295" type="sldNum"/>
          </p:nvPr>
        </p:nvSpPr>
        <p:spPr>
          <a:xfrm>
            <a:off x="1115568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accent6"/>
                </a:solidFill>
                <a:latin typeface="Calibri"/>
                <a:ea typeface="Calibri"/>
                <a:cs typeface="Calibri"/>
                <a:sym typeface="Calibri"/>
              </a:rPr>
              <a:t>‹#›</a:t>
            </a:fld>
            <a:endParaRPr b="0" i="0" sz="1100" u="none" cap="none" strike="noStrike">
              <a:solidFill>
                <a:schemeClr val="accent6"/>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6"/>
          <p:cNvSpPr txBox="1"/>
          <p:nvPr>
            <p:ph type="title"/>
          </p:nvPr>
        </p:nvSpPr>
        <p:spPr>
          <a:xfrm>
            <a:off x="548640" y="36576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600"/>
              <a:buFont typeface="Cambria"/>
              <a:buNone/>
            </a:pPr>
            <a:r>
              <a:rPr b="1" lang="en-US" sz="3600">
                <a:solidFill>
                  <a:schemeClr val="dk1"/>
                </a:solidFill>
              </a:rPr>
              <a:t>Monitoring: Prometheus + Grafana</a:t>
            </a:r>
            <a:endParaRPr sz="3600"/>
          </a:p>
        </p:txBody>
      </p:sp>
      <p:sp>
        <p:nvSpPr>
          <p:cNvPr id="282" name="Google Shape;282;p16"/>
          <p:cNvSpPr/>
          <p:nvPr/>
        </p:nvSpPr>
        <p:spPr>
          <a:xfrm>
            <a:off x="548640" y="1554480"/>
            <a:ext cx="3840480" cy="868680"/>
          </a:xfrm>
          <a:prstGeom prst="roundRect">
            <a:avLst>
              <a:gd fmla="val 12632"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6"/>
          <p:cNvSpPr txBox="1"/>
          <p:nvPr/>
        </p:nvSpPr>
        <p:spPr>
          <a:xfrm>
            <a:off x="777240" y="1664208"/>
            <a:ext cx="33832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Backend</a:t>
            </a:r>
            <a:endParaRPr b="0" i="0" sz="1800" u="none" cap="none" strike="noStrike">
              <a:solidFill>
                <a:schemeClr val="dk1"/>
              </a:solidFill>
              <a:latin typeface="Calibri"/>
              <a:ea typeface="Calibri"/>
              <a:cs typeface="Calibri"/>
              <a:sym typeface="Calibri"/>
            </a:endParaRPr>
          </a:p>
        </p:txBody>
      </p:sp>
      <p:sp>
        <p:nvSpPr>
          <p:cNvPr id="284" name="Google Shape;284;p16"/>
          <p:cNvSpPr txBox="1"/>
          <p:nvPr/>
        </p:nvSpPr>
        <p:spPr>
          <a:xfrm>
            <a:off x="777240" y="2029968"/>
            <a:ext cx="33832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/metrics</a:t>
            </a:r>
            <a:endParaRPr b="0" i="0" sz="1400" u="none" cap="none" strike="noStrike">
              <a:solidFill>
                <a:schemeClr val="dk1"/>
              </a:solidFill>
              <a:latin typeface="Calibri"/>
              <a:ea typeface="Calibri"/>
              <a:cs typeface="Calibri"/>
              <a:sym typeface="Calibri"/>
            </a:endParaRPr>
          </a:p>
        </p:txBody>
      </p:sp>
      <p:sp>
        <p:nvSpPr>
          <p:cNvPr id="285" name="Google Shape;285;p16"/>
          <p:cNvSpPr/>
          <p:nvPr/>
        </p:nvSpPr>
        <p:spPr>
          <a:xfrm>
            <a:off x="2286000" y="2432304"/>
            <a:ext cx="274320" cy="201168"/>
          </a:xfrm>
          <a:prstGeom prst="downArrow">
            <a:avLst>
              <a:gd fmla="val 50000" name="adj1"/>
              <a:gd fmla="val 50000" name="adj2"/>
            </a:avLst>
          </a:prstGeom>
          <a:solidFill>
            <a:schemeClr val="accent6"/>
          </a:solidFill>
          <a:ln cap="flat" cmpd="sng" w="127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6"/>
          <p:cNvSpPr/>
          <p:nvPr/>
        </p:nvSpPr>
        <p:spPr>
          <a:xfrm>
            <a:off x="548640" y="2651760"/>
            <a:ext cx="3840480" cy="868680"/>
          </a:xfrm>
          <a:prstGeom prst="roundRect">
            <a:avLst>
              <a:gd fmla="val 12632"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6"/>
          <p:cNvSpPr txBox="1"/>
          <p:nvPr/>
        </p:nvSpPr>
        <p:spPr>
          <a:xfrm>
            <a:off x="777240" y="2761488"/>
            <a:ext cx="33832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Prometheus</a:t>
            </a:r>
            <a:endParaRPr b="0" i="0" sz="1800" u="none" cap="none" strike="noStrike">
              <a:solidFill>
                <a:schemeClr val="dk1"/>
              </a:solidFill>
              <a:latin typeface="Calibri"/>
              <a:ea typeface="Calibri"/>
              <a:cs typeface="Calibri"/>
              <a:sym typeface="Calibri"/>
            </a:endParaRPr>
          </a:p>
        </p:txBody>
      </p:sp>
      <p:sp>
        <p:nvSpPr>
          <p:cNvPr id="288" name="Google Shape;288;p16"/>
          <p:cNvSpPr txBox="1"/>
          <p:nvPr/>
        </p:nvSpPr>
        <p:spPr>
          <a:xfrm>
            <a:off x="777240" y="3127248"/>
            <a:ext cx="33832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scrapes every 15s</a:t>
            </a:r>
            <a:endParaRPr b="0" i="0" sz="1400" u="none" cap="none" strike="noStrike">
              <a:solidFill>
                <a:schemeClr val="dk1"/>
              </a:solidFill>
              <a:latin typeface="Calibri"/>
              <a:ea typeface="Calibri"/>
              <a:cs typeface="Calibri"/>
              <a:sym typeface="Calibri"/>
            </a:endParaRPr>
          </a:p>
        </p:txBody>
      </p:sp>
      <p:sp>
        <p:nvSpPr>
          <p:cNvPr id="289" name="Google Shape;289;p16"/>
          <p:cNvSpPr/>
          <p:nvPr/>
        </p:nvSpPr>
        <p:spPr>
          <a:xfrm>
            <a:off x="2286000" y="3529584"/>
            <a:ext cx="274320" cy="201168"/>
          </a:xfrm>
          <a:prstGeom prst="downArrow">
            <a:avLst>
              <a:gd fmla="val 50000" name="adj1"/>
              <a:gd fmla="val 50000" name="adj2"/>
            </a:avLst>
          </a:prstGeom>
          <a:solidFill>
            <a:schemeClr val="accent6"/>
          </a:solidFill>
          <a:ln cap="flat" cmpd="sng" w="127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6"/>
          <p:cNvSpPr/>
          <p:nvPr/>
        </p:nvSpPr>
        <p:spPr>
          <a:xfrm>
            <a:off x="548640" y="3749040"/>
            <a:ext cx="3840480" cy="868680"/>
          </a:xfrm>
          <a:prstGeom prst="roundRect">
            <a:avLst>
              <a:gd fmla="val 12632"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6"/>
          <p:cNvSpPr txBox="1"/>
          <p:nvPr/>
        </p:nvSpPr>
        <p:spPr>
          <a:xfrm>
            <a:off x="777240" y="3858768"/>
            <a:ext cx="33832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Grafana</a:t>
            </a:r>
            <a:endParaRPr b="0" i="0" sz="1800" u="none" cap="none" strike="noStrike">
              <a:solidFill>
                <a:schemeClr val="dk1"/>
              </a:solidFill>
              <a:latin typeface="Calibri"/>
              <a:ea typeface="Calibri"/>
              <a:cs typeface="Calibri"/>
              <a:sym typeface="Calibri"/>
            </a:endParaRPr>
          </a:p>
        </p:txBody>
      </p:sp>
      <p:sp>
        <p:nvSpPr>
          <p:cNvPr id="292" name="Google Shape;292;p16"/>
          <p:cNvSpPr txBox="1"/>
          <p:nvPr/>
        </p:nvSpPr>
        <p:spPr>
          <a:xfrm>
            <a:off x="777240" y="4224528"/>
            <a:ext cx="33832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dashboard</a:t>
            </a:r>
            <a:endParaRPr b="0" i="0" sz="1400" u="none" cap="none" strike="noStrike">
              <a:solidFill>
                <a:schemeClr val="dk1"/>
              </a:solidFill>
              <a:latin typeface="Calibri"/>
              <a:ea typeface="Calibri"/>
              <a:cs typeface="Calibri"/>
              <a:sym typeface="Calibri"/>
            </a:endParaRPr>
          </a:p>
        </p:txBody>
      </p:sp>
      <p:sp>
        <p:nvSpPr>
          <p:cNvPr id="293" name="Google Shape;293;p16"/>
          <p:cNvSpPr txBox="1"/>
          <p:nvPr/>
        </p:nvSpPr>
        <p:spPr>
          <a:xfrm>
            <a:off x="548640" y="4892040"/>
            <a:ext cx="4023360" cy="12801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400"/>
              <a:buFont typeface="Calibri"/>
              <a:buChar char="•"/>
            </a:pPr>
            <a:r>
              <a:rPr b="0" i="0" lang="en-US" sz="1400" u="none" cap="none" strike="noStrike">
                <a:solidFill>
                  <a:schemeClr val="dk1"/>
                </a:solidFill>
                <a:latin typeface="Calibri"/>
                <a:ea typeface="Calibri"/>
                <a:cs typeface="Calibri"/>
                <a:sym typeface="Calibri"/>
              </a:rPr>
              <a:t>HTTP requests and latency per endpoint</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400"/>
              <a:buFont typeface="Calibri"/>
              <a:buChar char="•"/>
            </a:pPr>
            <a:r>
              <a:rPr b="0" i="0" lang="en-US" sz="1400" u="none" cap="none" strike="noStrike">
                <a:solidFill>
                  <a:schemeClr val="dk1"/>
                </a:solidFill>
                <a:latin typeface="Calibri"/>
                <a:ea typeface="Calibri"/>
                <a:cs typeface="Calibri"/>
                <a:sym typeface="Calibri"/>
              </a:rPr>
              <a:t>Business metric: tickets by status, from the database</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400"/>
              <a:buFont typeface="Calibri"/>
              <a:buChar char="•"/>
            </a:pPr>
            <a:r>
              <a:rPr b="0" i="0" lang="en-US" sz="1400" u="none" cap="none" strike="noStrike">
                <a:solidFill>
                  <a:schemeClr val="dk1"/>
                </a:solidFill>
                <a:latin typeface="Calibri"/>
                <a:ea typeface="Calibri"/>
                <a:cs typeface="Calibri"/>
                <a:sym typeface="Calibri"/>
              </a:rPr>
              <a:t>Pod count and CPU vs request, to see autoscaling</a:t>
            </a:r>
            <a:endParaRPr b="0" i="0" sz="1400" u="none" cap="none" strike="noStrike">
              <a:solidFill>
                <a:schemeClr val="dk1"/>
              </a:solidFill>
              <a:latin typeface="Calibri"/>
              <a:ea typeface="Calibri"/>
              <a:cs typeface="Calibri"/>
              <a:sym typeface="Calibri"/>
            </a:endParaRPr>
          </a:p>
        </p:txBody>
      </p:sp>
      <p:sp>
        <p:nvSpPr>
          <p:cNvPr id="294" name="Google Shape;294;p16"/>
          <p:cNvSpPr/>
          <p:nvPr/>
        </p:nvSpPr>
        <p:spPr>
          <a:xfrm>
            <a:off x="4846320" y="1554480"/>
            <a:ext cx="6766560" cy="4480560"/>
          </a:xfrm>
          <a:prstGeom prst="roundRect">
            <a:avLst>
              <a:gd fmla="val 2041" name="adj"/>
            </a:avLst>
          </a:prstGeom>
          <a:solidFill>
            <a:srgbClr val="F6F9F9"/>
          </a:solidFill>
          <a:ln cap="flat" cmpd="sng" w="19050">
            <a:solidFill>
              <a:schemeClr val="accent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6"/>
          <p:cNvSpPr txBox="1"/>
          <p:nvPr/>
        </p:nvSpPr>
        <p:spPr>
          <a:xfrm>
            <a:off x="5120640" y="1554480"/>
            <a:ext cx="6217920" cy="44805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2"/>
              </a:buClr>
              <a:buSzPts val="1400"/>
              <a:buFont typeface="Calibri"/>
              <a:buNone/>
            </a:pPr>
            <a:r>
              <a:rPr b="0" i="1" lang="en-US" sz="1400" u="none" cap="none" strike="noStrike">
                <a:solidFill>
                  <a:schemeClr val="dk2"/>
                </a:solidFill>
                <a:latin typeface="Calibri"/>
                <a:ea typeface="Calibri"/>
                <a:cs typeface="Calibri"/>
                <a:sym typeface="Calibri"/>
              </a:rPr>
              <a:t>Screenshot: Grafana "QuickDesk overview" dashboard with live panels</a:t>
            </a:r>
            <a:endParaRPr b="0" i="0" sz="1400" u="none" cap="none" strike="noStrike">
              <a:solidFill>
                <a:schemeClr val="dk1"/>
              </a:solidFill>
              <a:latin typeface="Calibri"/>
              <a:ea typeface="Calibri"/>
              <a:cs typeface="Calibri"/>
              <a:sym typeface="Calibri"/>
            </a:endParaRPr>
          </a:p>
        </p:txBody>
      </p:sp>
      <p:sp>
        <p:nvSpPr>
          <p:cNvPr id="296" name="Google Shape;296;p16"/>
          <p:cNvSpPr txBox="1"/>
          <p:nvPr>
            <p:ph idx="4294967295" type="sldNum"/>
          </p:nvPr>
        </p:nvSpPr>
        <p:spPr>
          <a:xfrm>
            <a:off x="1115568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accent6"/>
                </a:solidFill>
                <a:latin typeface="Calibri"/>
                <a:ea typeface="Calibri"/>
                <a:cs typeface="Calibri"/>
                <a:sym typeface="Calibri"/>
              </a:rPr>
              <a:t>‹#›</a:t>
            </a:fld>
            <a:endParaRPr b="0" i="0" sz="1100" u="none" cap="none" strike="noStrike">
              <a:solidFill>
                <a:schemeClr val="accent6"/>
              </a:solidFill>
              <a:latin typeface="Calibri"/>
              <a:ea typeface="Calibri"/>
              <a:cs typeface="Calibri"/>
              <a:sym typeface="Calibri"/>
            </a:endParaRPr>
          </a:p>
        </p:txBody>
      </p:sp>
      <p:pic>
        <p:nvPicPr>
          <p:cNvPr id="297" name="Google Shape;297;p16"/>
          <p:cNvPicPr preferRelativeResize="0"/>
          <p:nvPr/>
        </p:nvPicPr>
        <p:blipFill>
          <a:blip r:embed="rId3">
            <a:alphaModFix/>
          </a:blip>
          <a:stretch>
            <a:fillRect/>
          </a:stretch>
        </p:blipFill>
        <p:spPr>
          <a:xfrm>
            <a:off x="4846325" y="1554475"/>
            <a:ext cx="6858001" cy="51206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7"/>
          <p:cNvSpPr txBox="1"/>
          <p:nvPr>
            <p:ph type="title"/>
          </p:nvPr>
        </p:nvSpPr>
        <p:spPr>
          <a:xfrm>
            <a:off x="548640" y="365760"/>
            <a:ext cx="11064240" cy="8229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600"/>
              <a:buFont typeface="Cambria"/>
              <a:buNone/>
            </a:pPr>
            <a:r>
              <a:rPr b="1" lang="en-US" sz="3600">
                <a:solidFill>
                  <a:schemeClr val="dk1"/>
                </a:solidFill>
              </a:rPr>
              <a:t>Troubleshooting: read the Events</a:t>
            </a:r>
            <a:endParaRPr sz="3600"/>
          </a:p>
        </p:txBody>
      </p:sp>
      <p:sp>
        <p:nvSpPr>
          <p:cNvPr id="304" name="Google Shape;304;p17"/>
          <p:cNvSpPr/>
          <p:nvPr/>
        </p:nvSpPr>
        <p:spPr>
          <a:xfrm>
            <a:off x="548640" y="1554480"/>
            <a:ext cx="3474720" cy="3749040"/>
          </a:xfrm>
          <a:prstGeom prst="roundRect">
            <a:avLst>
              <a:gd fmla="val 3158"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7"/>
          <p:cNvSpPr/>
          <p:nvPr/>
        </p:nvSpPr>
        <p:spPr>
          <a:xfrm>
            <a:off x="777240" y="1783080"/>
            <a:ext cx="685800" cy="685800"/>
          </a:xfrm>
          <a:prstGeom prst="ellipse">
            <a:avLst/>
          </a:prstGeom>
          <a:solidFill>
            <a:schemeClr val="accent3"/>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6" name="Google Shape;306;p17"/>
          <p:cNvPicPr preferRelativeResize="0"/>
          <p:nvPr/>
        </p:nvPicPr>
        <p:blipFill rotWithShape="1">
          <a:blip r:embed="rId3">
            <a:alphaModFix/>
          </a:blip>
          <a:srcRect b="0" l="0" r="0" t="0"/>
          <a:stretch/>
        </p:blipFill>
        <p:spPr>
          <a:xfrm>
            <a:off x="948690" y="1954530"/>
            <a:ext cx="342900" cy="342900"/>
          </a:xfrm>
          <a:prstGeom prst="rect">
            <a:avLst/>
          </a:prstGeom>
          <a:noFill/>
          <a:ln>
            <a:noFill/>
          </a:ln>
        </p:spPr>
      </p:pic>
      <p:sp>
        <p:nvSpPr>
          <p:cNvPr id="307" name="Google Shape;307;p17"/>
          <p:cNvSpPr txBox="1"/>
          <p:nvPr/>
        </p:nvSpPr>
        <p:spPr>
          <a:xfrm>
            <a:off x="777240" y="2651760"/>
            <a:ext cx="306324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ImagePullBackOff</a:t>
            </a:r>
            <a:endParaRPr b="0" i="0" sz="1800" u="none" cap="none" strike="noStrike">
              <a:solidFill>
                <a:schemeClr val="dk1"/>
              </a:solidFill>
              <a:latin typeface="Calibri"/>
              <a:ea typeface="Calibri"/>
              <a:cs typeface="Calibri"/>
              <a:sym typeface="Calibri"/>
            </a:endParaRPr>
          </a:p>
        </p:txBody>
      </p:sp>
      <p:sp>
        <p:nvSpPr>
          <p:cNvPr id="308" name="Google Shape;308;p17"/>
          <p:cNvSpPr txBox="1"/>
          <p:nvPr/>
        </p:nvSpPr>
        <p:spPr>
          <a:xfrm>
            <a:off x="777240" y="3337560"/>
            <a:ext cx="306324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Cause: Wrong or missing image tag</a:t>
            </a:r>
            <a:endParaRPr b="0" i="0" sz="1400" u="none" cap="none" strike="noStrike">
              <a:solidFill>
                <a:schemeClr val="dk1"/>
              </a:solidFill>
              <a:latin typeface="Calibri"/>
              <a:ea typeface="Calibri"/>
              <a:cs typeface="Calibri"/>
              <a:sym typeface="Calibri"/>
            </a:endParaRPr>
          </a:p>
        </p:txBody>
      </p:sp>
      <p:sp>
        <p:nvSpPr>
          <p:cNvPr id="309" name="Google Shape;309;p17"/>
          <p:cNvSpPr txBox="1"/>
          <p:nvPr/>
        </p:nvSpPr>
        <p:spPr>
          <a:xfrm>
            <a:off x="777240" y="3977640"/>
            <a:ext cx="30632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Check: kubectl describe pod</a:t>
            </a:r>
            <a:endParaRPr b="0" i="0" sz="1400" u="none" cap="none" strike="noStrike">
              <a:solidFill>
                <a:schemeClr val="dk1"/>
              </a:solidFill>
              <a:latin typeface="Calibri"/>
              <a:ea typeface="Calibri"/>
              <a:cs typeface="Calibri"/>
              <a:sym typeface="Calibri"/>
            </a:endParaRPr>
          </a:p>
        </p:txBody>
      </p:sp>
      <p:sp>
        <p:nvSpPr>
          <p:cNvPr id="310" name="Google Shape;310;p17"/>
          <p:cNvSpPr txBox="1"/>
          <p:nvPr/>
        </p:nvSpPr>
        <p:spPr>
          <a:xfrm>
            <a:off x="777240" y="4480560"/>
            <a:ext cx="306324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Fix: Use a tag that exists, or rollout undo</a:t>
            </a:r>
            <a:endParaRPr b="0" i="0" sz="1400" u="none" cap="none" strike="noStrike">
              <a:solidFill>
                <a:schemeClr val="dk1"/>
              </a:solidFill>
              <a:latin typeface="Calibri"/>
              <a:ea typeface="Calibri"/>
              <a:cs typeface="Calibri"/>
              <a:sym typeface="Calibri"/>
            </a:endParaRPr>
          </a:p>
        </p:txBody>
      </p:sp>
      <p:sp>
        <p:nvSpPr>
          <p:cNvPr id="311" name="Google Shape;311;p17"/>
          <p:cNvSpPr/>
          <p:nvPr/>
        </p:nvSpPr>
        <p:spPr>
          <a:xfrm>
            <a:off x="4297680" y="1554480"/>
            <a:ext cx="3474720" cy="3749040"/>
          </a:xfrm>
          <a:prstGeom prst="roundRect">
            <a:avLst>
              <a:gd fmla="val 3158"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7"/>
          <p:cNvSpPr/>
          <p:nvPr/>
        </p:nvSpPr>
        <p:spPr>
          <a:xfrm>
            <a:off x="4526280" y="1783080"/>
            <a:ext cx="685800" cy="685800"/>
          </a:xfrm>
          <a:prstGeom prst="ellipse">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3" name="Google Shape;313;p17"/>
          <p:cNvPicPr preferRelativeResize="0"/>
          <p:nvPr/>
        </p:nvPicPr>
        <p:blipFill rotWithShape="1">
          <a:blip r:embed="rId4">
            <a:alphaModFix/>
          </a:blip>
          <a:srcRect b="0" l="0" r="0" t="0"/>
          <a:stretch/>
        </p:blipFill>
        <p:spPr>
          <a:xfrm>
            <a:off x="4697730" y="1954530"/>
            <a:ext cx="342900" cy="342900"/>
          </a:xfrm>
          <a:prstGeom prst="rect">
            <a:avLst/>
          </a:prstGeom>
          <a:noFill/>
          <a:ln>
            <a:noFill/>
          </a:ln>
        </p:spPr>
      </p:pic>
      <p:sp>
        <p:nvSpPr>
          <p:cNvPr id="314" name="Google Shape;314;p17"/>
          <p:cNvSpPr txBox="1"/>
          <p:nvPr/>
        </p:nvSpPr>
        <p:spPr>
          <a:xfrm>
            <a:off x="4526280" y="2651760"/>
            <a:ext cx="306324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Running, but 0/1 Ready</a:t>
            </a:r>
            <a:endParaRPr b="0" i="0" sz="1800" u="none" cap="none" strike="noStrike">
              <a:solidFill>
                <a:schemeClr val="dk1"/>
              </a:solidFill>
              <a:latin typeface="Calibri"/>
              <a:ea typeface="Calibri"/>
              <a:cs typeface="Calibri"/>
              <a:sym typeface="Calibri"/>
            </a:endParaRPr>
          </a:p>
        </p:txBody>
      </p:sp>
      <p:sp>
        <p:nvSpPr>
          <p:cNvPr id="315" name="Google Shape;315;p17"/>
          <p:cNvSpPr txBox="1"/>
          <p:nvPr/>
        </p:nvSpPr>
        <p:spPr>
          <a:xfrm>
            <a:off x="4526280" y="3337560"/>
            <a:ext cx="306324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Cause: Readiness probe failing</a:t>
            </a:r>
            <a:endParaRPr b="0" i="0" sz="1400" u="none" cap="none" strike="noStrike">
              <a:solidFill>
                <a:schemeClr val="dk1"/>
              </a:solidFill>
              <a:latin typeface="Calibri"/>
              <a:ea typeface="Calibri"/>
              <a:cs typeface="Calibri"/>
              <a:sym typeface="Calibri"/>
            </a:endParaRPr>
          </a:p>
        </p:txBody>
      </p:sp>
      <p:sp>
        <p:nvSpPr>
          <p:cNvPr id="316" name="Google Shape;316;p17"/>
          <p:cNvSpPr txBox="1"/>
          <p:nvPr/>
        </p:nvSpPr>
        <p:spPr>
          <a:xfrm>
            <a:off x="4526280" y="3977640"/>
            <a:ext cx="30632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Check: kubectl describe pod</a:t>
            </a:r>
            <a:endParaRPr b="0" i="0" sz="1400" u="none" cap="none" strike="noStrike">
              <a:solidFill>
                <a:schemeClr val="dk1"/>
              </a:solidFill>
              <a:latin typeface="Calibri"/>
              <a:ea typeface="Calibri"/>
              <a:cs typeface="Calibri"/>
              <a:sym typeface="Calibri"/>
            </a:endParaRPr>
          </a:p>
        </p:txBody>
      </p:sp>
      <p:sp>
        <p:nvSpPr>
          <p:cNvPr id="317" name="Google Shape;317;p17"/>
          <p:cNvSpPr txBox="1"/>
          <p:nvPr/>
        </p:nvSpPr>
        <p:spPr>
          <a:xfrm>
            <a:off x="4526280" y="4480560"/>
            <a:ext cx="306324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Fix: Fix the probe path or the dependency</a:t>
            </a:r>
            <a:endParaRPr b="0" i="0" sz="1400" u="none" cap="none" strike="noStrike">
              <a:solidFill>
                <a:schemeClr val="dk1"/>
              </a:solidFill>
              <a:latin typeface="Calibri"/>
              <a:ea typeface="Calibri"/>
              <a:cs typeface="Calibri"/>
              <a:sym typeface="Calibri"/>
            </a:endParaRPr>
          </a:p>
        </p:txBody>
      </p:sp>
      <p:sp>
        <p:nvSpPr>
          <p:cNvPr id="318" name="Google Shape;318;p17"/>
          <p:cNvSpPr/>
          <p:nvPr/>
        </p:nvSpPr>
        <p:spPr>
          <a:xfrm>
            <a:off x="8046720" y="1554480"/>
            <a:ext cx="3474720" cy="3749040"/>
          </a:xfrm>
          <a:prstGeom prst="roundRect">
            <a:avLst>
              <a:gd fmla="val 3158"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7"/>
          <p:cNvSpPr/>
          <p:nvPr/>
        </p:nvSpPr>
        <p:spPr>
          <a:xfrm>
            <a:off x="8275320" y="1783080"/>
            <a:ext cx="685800" cy="685800"/>
          </a:xfrm>
          <a:prstGeom prst="ellipse">
            <a:avLst/>
          </a:prstGeom>
          <a:solidFill>
            <a:schemeClr val="accent5"/>
          </a:solidFill>
          <a:ln cap="flat" cmpd="sng" w="127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20" name="Google Shape;320;p17"/>
          <p:cNvPicPr preferRelativeResize="0"/>
          <p:nvPr/>
        </p:nvPicPr>
        <p:blipFill rotWithShape="1">
          <a:blip r:embed="rId5">
            <a:alphaModFix/>
          </a:blip>
          <a:srcRect b="0" l="0" r="0" t="0"/>
          <a:stretch/>
        </p:blipFill>
        <p:spPr>
          <a:xfrm>
            <a:off x="8446770" y="1954530"/>
            <a:ext cx="342900" cy="342900"/>
          </a:xfrm>
          <a:prstGeom prst="rect">
            <a:avLst/>
          </a:prstGeom>
          <a:noFill/>
          <a:ln>
            <a:noFill/>
          </a:ln>
        </p:spPr>
      </p:pic>
      <p:sp>
        <p:nvSpPr>
          <p:cNvPr id="321" name="Google Shape;321;p17"/>
          <p:cNvSpPr txBox="1"/>
          <p:nvPr/>
        </p:nvSpPr>
        <p:spPr>
          <a:xfrm>
            <a:off x="8275320" y="2651760"/>
            <a:ext cx="306324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Init: CrashLoopBackOff</a:t>
            </a:r>
            <a:endParaRPr b="0" i="0" sz="1800" u="none" cap="none" strike="noStrike">
              <a:solidFill>
                <a:schemeClr val="dk1"/>
              </a:solidFill>
              <a:latin typeface="Calibri"/>
              <a:ea typeface="Calibri"/>
              <a:cs typeface="Calibri"/>
              <a:sym typeface="Calibri"/>
            </a:endParaRPr>
          </a:p>
        </p:txBody>
      </p:sp>
      <p:sp>
        <p:nvSpPr>
          <p:cNvPr id="322" name="Google Shape;322;p17"/>
          <p:cNvSpPr txBox="1"/>
          <p:nvPr/>
        </p:nvSpPr>
        <p:spPr>
          <a:xfrm>
            <a:off x="8275320" y="3337560"/>
            <a:ext cx="306324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Cause: Backend cannot reach the database</a:t>
            </a:r>
            <a:endParaRPr b="0" i="0" sz="1400" u="none" cap="none" strike="noStrike">
              <a:solidFill>
                <a:schemeClr val="dk1"/>
              </a:solidFill>
              <a:latin typeface="Calibri"/>
              <a:ea typeface="Calibri"/>
              <a:cs typeface="Calibri"/>
              <a:sym typeface="Calibri"/>
            </a:endParaRPr>
          </a:p>
        </p:txBody>
      </p:sp>
      <p:sp>
        <p:nvSpPr>
          <p:cNvPr id="323" name="Google Shape;323;p17"/>
          <p:cNvSpPr txBox="1"/>
          <p:nvPr/>
        </p:nvSpPr>
        <p:spPr>
          <a:xfrm>
            <a:off x="8275320" y="3977640"/>
            <a:ext cx="30632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Check: kubectl logs -c migrate</a:t>
            </a:r>
            <a:endParaRPr b="0" i="0" sz="1400" u="none" cap="none" strike="noStrike">
              <a:solidFill>
                <a:schemeClr val="dk1"/>
              </a:solidFill>
              <a:latin typeface="Calibri"/>
              <a:ea typeface="Calibri"/>
              <a:cs typeface="Calibri"/>
              <a:sym typeface="Calibri"/>
            </a:endParaRPr>
          </a:p>
        </p:txBody>
      </p:sp>
      <p:sp>
        <p:nvSpPr>
          <p:cNvPr id="324" name="Google Shape;324;p17"/>
          <p:cNvSpPr txBox="1"/>
          <p:nvPr/>
        </p:nvSpPr>
        <p:spPr>
          <a:xfrm>
            <a:off x="8275320" y="4480560"/>
            <a:ext cx="306324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0" i="0" lang="en-US" sz="1400" u="none" cap="none" strike="noStrike">
                <a:solidFill>
                  <a:schemeClr val="dk2"/>
                </a:solidFill>
                <a:latin typeface="Calibri"/>
                <a:ea typeface="Calibri"/>
                <a:cs typeface="Calibri"/>
                <a:sym typeface="Calibri"/>
              </a:rPr>
              <a:t>Fix: Correct the DATABASE_URL secret</a:t>
            </a:r>
            <a:endParaRPr b="0" i="0" sz="1400" u="none" cap="none" strike="noStrike">
              <a:solidFill>
                <a:schemeClr val="dk1"/>
              </a:solidFill>
              <a:latin typeface="Calibri"/>
              <a:ea typeface="Calibri"/>
              <a:cs typeface="Calibri"/>
              <a:sym typeface="Calibri"/>
            </a:endParaRPr>
          </a:p>
        </p:txBody>
      </p:sp>
      <p:sp>
        <p:nvSpPr>
          <p:cNvPr id="325" name="Google Shape;325;p17"/>
          <p:cNvSpPr txBox="1"/>
          <p:nvPr/>
        </p:nvSpPr>
        <p:spPr>
          <a:xfrm>
            <a:off x="548640" y="5577840"/>
            <a:ext cx="110642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800"/>
              <a:buFont typeface="Calibri"/>
              <a:buNone/>
            </a:pPr>
            <a:r>
              <a:rPr b="1" i="0" lang="en-US" sz="1800" u="none" cap="none" strike="noStrike">
                <a:solidFill>
                  <a:schemeClr val="accent1"/>
                </a:solidFill>
                <a:latin typeface="Calibri"/>
                <a:ea typeface="Calibri"/>
                <a:cs typeface="Calibri"/>
                <a:sym typeface="Calibri"/>
              </a:rPr>
              <a:t>Method: get (what state?), describe (read Events), logs (what did the app say?), then fix and verify.</a:t>
            </a:r>
            <a:endParaRPr b="0" i="0" sz="1800" u="none" cap="none" strike="noStrike">
              <a:solidFill>
                <a:schemeClr val="dk1"/>
              </a:solidFill>
              <a:latin typeface="Calibri"/>
              <a:ea typeface="Calibri"/>
              <a:cs typeface="Calibri"/>
              <a:sym typeface="Calibri"/>
            </a:endParaRPr>
          </a:p>
        </p:txBody>
      </p:sp>
      <p:sp>
        <p:nvSpPr>
          <p:cNvPr id="326" name="Google Shape;326;p17"/>
          <p:cNvSpPr txBox="1"/>
          <p:nvPr>
            <p:ph idx="4294967295" type="sldNum"/>
          </p:nvPr>
        </p:nvSpPr>
        <p:spPr>
          <a:xfrm>
            <a:off x="11155680" y="6400800"/>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accent6"/>
                </a:solidFill>
                <a:latin typeface="Calibri"/>
                <a:ea typeface="Calibri"/>
                <a:cs typeface="Calibri"/>
                <a:sym typeface="Calibri"/>
              </a:rPr>
              <a:t>‹#›</a:t>
            </a:fld>
            <a:endParaRPr b="0" i="0" sz="1100" u="none" cap="none" strike="noStrike">
              <a:solidFill>
                <a:schemeClr val="accent6"/>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18"/>
          <p:cNvSpPr txBox="1"/>
          <p:nvPr>
            <p:ph type="title"/>
          </p:nvPr>
        </p:nvSpPr>
        <p:spPr>
          <a:xfrm>
            <a:off x="731520" y="2103120"/>
            <a:ext cx="6766560" cy="13716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lt1"/>
              </a:buClr>
              <a:buSzPts val="5600"/>
              <a:buFont typeface="Cambria"/>
              <a:buNone/>
            </a:pPr>
            <a:r>
              <a:rPr b="1" lang="en-US" sz="5600">
                <a:solidFill>
                  <a:schemeClr val="lt1"/>
                </a:solidFill>
              </a:rPr>
              <a:t>What I learned</a:t>
            </a:r>
            <a:endParaRPr sz="5600"/>
          </a:p>
        </p:txBody>
      </p:sp>
      <p:sp>
        <p:nvSpPr>
          <p:cNvPr id="333" name="Google Shape;333;p18"/>
          <p:cNvSpPr txBox="1"/>
          <p:nvPr>
            <p:ph idx="1" type="body"/>
          </p:nvPr>
        </p:nvSpPr>
        <p:spPr>
          <a:xfrm>
            <a:off x="731520" y="3611880"/>
            <a:ext cx="6400800" cy="10972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2"/>
              </a:buClr>
              <a:buSzPts val="2200"/>
              <a:buNone/>
            </a:pPr>
            <a:r>
              <a:rPr lang="en-US" sz="2200">
                <a:solidFill>
                  <a:schemeClr val="lt2"/>
                </a:solidFill>
              </a:rPr>
              <a:t>Gates catch problems early. Observability makes behaviour visible. Linear migration history matters.</a:t>
            </a:r>
            <a:endParaRPr sz="2200"/>
          </a:p>
        </p:txBody>
      </p:sp>
      <p:sp>
        <p:nvSpPr>
          <p:cNvPr id="334" name="Google Shape;334;p18"/>
          <p:cNvSpPr txBox="1"/>
          <p:nvPr/>
        </p:nvSpPr>
        <p:spPr>
          <a:xfrm>
            <a:off x="731520" y="5120640"/>
            <a:ext cx="64008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2400"/>
              <a:buFont typeface="Calibri"/>
              <a:buNone/>
            </a:pPr>
            <a:r>
              <a:rPr b="1" i="0" lang="en-US" sz="2400" u="none" cap="none" strike="noStrike">
                <a:solidFill>
                  <a:schemeClr val="lt1"/>
                </a:solidFill>
                <a:latin typeface="Calibri"/>
                <a:ea typeface="Calibri"/>
                <a:cs typeface="Calibri"/>
                <a:sym typeface="Calibri"/>
              </a:rPr>
              <a:t>Thank you. Questions?</a:t>
            </a:r>
            <a:endParaRPr b="0" i="0" sz="2400" u="none" cap="none" strike="noStrike">
              <a:solidFill>
                <a:schemeClr val="dk1"/>
              </a:solidFill>
              <a:latin typeface="Calibri"/>
              <a:ea typeface="Calibri"/>
              <a:cs typeface="Calibri"/>
              <a:sym typeface="Calibri"/>
            </a:endParaRPr>
          </a:p>
        </p:txBody>
      </p:sp>
      <p:sp>
        <p:nvSpPr>
          <p:cNvPr id="335" name="Google Shape;335;p18"/>
          <p:cNvSpPr/>
          <p:nvPr/>
        </p:nvSpPr>
        <p:spPr>
          <a:xfrm>
            <a:off x="8138160" y="1554480"/>
            <a:ext cx="3383280" cy="338328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6" name="Google Shape;336;p18"/>
          <p:cNvPicPr preferRelativeResize="0"/>
          <p:nvPr/>
        </p:nvPicPr>
        <p:blipFill rotWithShape="1">
          <a:blip r:embed="rId3">
            <a:alphaModFix/>
          </a:blip>
          <a:srcRect b="0" l="0" r="0" t="0"/>
          <a:stretch/>
        </p:blipFill>
        <p:spPr>
          <a:xfrm>
            <a:off x="9098280" y="2514600"/>
            <a:ext cx="1463040" cy="146304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QuickDesk">
  <a:themeElements>
    <a:clrScheme name="QuickDesk">
      <a:dk1>
        <a:srgbClr val="14262E"/>
      </a:dk1>
      <a:lt1>
        <a:srgbClr val="FFFFFF"/>
      </a:lt1>
      <a:dk2>
        <a:srgbClr val="0B6B6F"/>
      </a:dk2>
      <a:lt2>
        <a:srgbClr val="EDF3F3"/>
      </a:lt2>
      <a:accent1>
        <a:srgbClr val="0B6B6F"/>
      </a:accent1>
      <a:accent2>
        <a:srgbClr val="1D6FB8"/>
      </a:accent2>
      <a:accent3>
        <a:srgbClr val="C27D00"/>
      </a:accent3>
      <a:accent4>
        <a:srgbClr val="2B8A57"/>
      </a:accent4>
      <a:accent5>
        <a:srgbClr val="C8321E"/>
      </a:accent5>
      <a:accent6>
        <a:srgbClr val="7B8B92"/>
      </a:accent6>
      <a:hlink>
        <a:srgbClr val="1D6FB8"/>
      </a:hlink>
      <a:folHlink>
        <a:srgbClr val="7B8B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QuickDesk">
  <a:themeElements>
    <a:clrScheme name="QuickDesk">
      <a:dk1>
        <a:srgbClr val="14262E"/>
      </a:dk1>
      <a:lt1>
        <a:srgbClr val="FFFFFF"/>
      </a:lt1>
      <a:dk2>
        <a:srgbClr val="0B6B6F"/>
      </a:dk2>
      <a:lt2>
        <a:srgbClr val="EDF3F3"/>
      </a:lt2>
      <a:accent1>
        <a:srgbClr val="0B6B6F"/>
      </a:accent1>
      <a:accent2>
        <a:srgbClr val="1D6FB8"/>
      </a:accent2>
      <a:accent3>
        <a:srgbClr val="C27D00"/>
      </a:accent3>
      <a:accent4>
        <a:srgbClr val="2B8A57"/>
      </a:accent4>
      <a:accent5>
        <a:srgbClr val="C8321E"/>
      </a:accent5>
      <a:accent6>
        <a:srgbClr val="7B8B92"/>
      </a:accent6>
      <a:hlink>
        <a:srgbClr val="1D6FB8"/>
      </a:hlink>
      <a:folHlink>
        <a:srgbClr val="7B8B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